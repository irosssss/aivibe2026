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LTV / CAC</c:v>
                </c:pt>
              </c:strCache>
            </c:strRef>
          </c:tx>
          <c:dPt>
            <c:idx val="0"/>
            <c:spPr>
              <a:solidFill>
                <a:srgbClr val="9C3848"/>
              </a:solidFill>
            </c:spPr>
          </c:dPt>
          <c:dPt>
            <c:idx val="1"/>
            <c:spPr>
              <a:solidFill>
                <a:srgbClr val="1E7A52"/>
              </a:solidFill>
            </c:spPr>
          </c:dPt>
          <c:dPt>
            <c:idx val="2"/>
            <c:spPr>
              <a:solidFill>
                <a:srgbClr val="1E7A52"/>
              </a:solidFill>
            </c:spPr>
          </c:dPt>
          <c:cat>
            <c:strRef>
              <c:f>Sheet1!$A$2:$A$4</c:f>
              <c:strCache>
                <c:ptCount val="3"/>
                <c:pt idx="0">
                  <c:v>Массовый
покупатель</c:v>
                </c:pt>
                <c:pt idx="1">
                  <c:v>Дизайнер</c:v>
                </c:pt>
                <c:pt idx="2">
                  <c:v>Риелтор /
застройщик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</c:v>
                </c:pt>
                <c:pt idx="1">
                  <c:v>5.0</c:v>
                </c:pt>
                <c:pt idx="2">
                  <c:v>6.0</c:v>
                </c:pt>
              </c:numCache>
            </c:numRef>
          </c:val>
        </c:ser>
        <c:dLbls>
          <c:numFmt formatCode="0.0&quot;×&quot;" sourceLinked="0"/>
          <c:txPr>
            <a:bodyPr/>
            <a:lstStyle/>
            <a:p>
              <a:pPr>
                <a:defRPr sz="1300" b="1">
                  <a:solidFill>
                    <a:srgbClr val="14213D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 b="1">
                <a:solidFill>
                  <a:srgbClr val="14213D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.0"/>
          <c:min val="0.0"/>
        </c:scaling>
        <c:delete val="0"/>
        <c:axPos val="l"/>
        <c:majorGridlines/>
        <c:numFmt formatCode="0&quot;×&quot;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5A6472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ln w="34925">
              <a:solidFill>
                <a:srgbClr val="1E7A52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М1</c:v>
                </c:pt>
                <c:pt idx="1">
                  <c:v>М2</c:v>
                </c:pt>
                <c:pt idx="2">
                  <c:v>М3</c:v>
                </c:pt>
                <c:pt idx="3">
                  <c:v>М4</c:v>
                </c:pt>
                <c:pt idx="4">
                  <c:v>М5</c:v>
                </c:pt>
                <c:pt idx="5">
                  <c:v>М6</c:v>
                </c:pt>
                <c:pt idx="6">
                  <c:v>М7</c:v>
                </c:pt>
                <c:pt idx="7">
                  <c:v>М8</c:v>
                </c:pt>
                <c:pt idx="8">
                  <c:v>М9</c:v>
                </c:pt>
                <c:pt idx="9">
                  <c:v>М10</c:v>
                </c:pt>
                <c:pt idx="10">
                  <c:v>М11</c:v>
                </c:pt>
                <c:pt idx="11">
                  <c:v>М12</c:v>
                </c:pt>
                <c:pt idx="12">
                  <c:v>М13</c:v>
                </c:pt>
                <c:pt idx="13">
                  <c:v>М14</c:v>
                </c:pt>
                <c:pt idx="14">
                  <c:v>М15</c:v>
                </c:pt>
                <c:pt idx="15">
                  <c:v>М16</c:v>
                </c:pt>
                <c:pt idx="16">
                  <c:v>М17</c:v>
                </c:pt>
                <c:pt idx="17">
                  <c:v>М18</c:v>
                </c:pt>
                <c:pt idx="18">
                  <c:v>М19</c:v>
                </c:pt>
                <c:pt idx="19">
                  <c:v>М20</c:v>
                </c:pt>
                <c:pt idx="20">
                  <c:v>М21</c:v>
                </c:pt>
                <c:pt idx="21">
                  <c:v>М22</c:v>
                </c:pt>
                <c:pt idx="22">
                  <c:v>М23</c:v>
                </c:pt>
                <c:pt idx="23">
                  <c:v>М24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99</c:v>
                </c:pt>
                <c:pt idx="5">
                  <c:v>186</c:v>
                </c:pt>
                <c:pt idx="6">
                  <c:v>294</c:v>
                </c:pt>
                <c:pt idx="7">
                  <c:v>423</c:v>
                </c:pt>
                <c:pt idx="8">
                  <c:v>599</c:v>
                </c:pt>
                <c:pt idx="9">
                  <c:v>794</c:v>
                </c:pt>
                <c:pt idx="10">
                  <c:v>1010</c:v>
                </c:pt>
                <c:pt idx="11">
                  <c:v>1240</c:v>
                </c:pt>
                <c:pt idx="12">
                  <c:v>1489</c:v>
                </c:pt>
                <c:pt idx="13">
                  <c:v>1754</c:v>
                </c:pt>
                <c:pt idx="14">
                  <c:v>2033</c:v>
                </c:pt>
                <c:pt idx="15">
                  <c:v>2332</c:v>
                </c:pt>
                <c:pt idx="16">
                  <c:v>2646</c:v>
                </c:pt>
                <c:pt idx="17">
                  <c:v>2979</c:v>
                </c:pt>
                <c:pt idx="18">
                  <c:v>3328</c:v>
                </c:pt>
                <c:pt idx="19">
                  <c:v>3691</c:v>
                </c:pt>
                <c:pt idx="20">
                  <c:v>4069</c:v>
                </c:pt>
                <c:pt idx="21">
                  <c:v>4461</c:v>
                </c:pt>
                <c:pt idx="22">
                  <c:v>4869</c:v>
                </c:pt>
                <c:pt idx="23">
                  <c:v>5291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Затраты</c:v>
                </c:pt>
              </c:strCache>
            </c:strRef>
          </c:tx>
          <c:spPr>
            <a:ln w="31750">
              <a:solidFill>
                <a:srgbClr val="9C3848"/>
              </a:solidFill>
              <a:prstDash val="dash"/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М1</c:v>
                </c:pt>
                <c:pt idx="1">
                  <c:v>М2</c:v>
                </c:pt>
                <c:pt idx="2">
                  <c:v>М3</c:v>
                </c:pt>
                <c:pt idx="3">
                  <c:v>М4</c:v>
                </c:pt>
                <c:pt idx="4">
                  <c:v>М5</c:v>
                </c:pt>
                <c:pt idx="5">
                  <c:v>М6</c:v>
                </c:pt>
                <c:pt idx="6">
                  <c:v>М7</c:v>
                </c:pt>
                <c:pt idx="7">
                  <c:v>М8</c:v>
                </c:pt>
                <c:pt idx="8">
                  <c:v>М9</c:v>
                </c:pt>
                <c:pt idx="9">
                  <c:v>М10</c:v>
                </c:pt>
                <c:pt idx="10">
                  <c:v>М11</c:v>
                </c:pt>
                <c:pt idx="11">
                  <c:v>М12</c:v>
                </c:pt>
                <c:pt idx="12">
                  <c:v>М13</c:v>
                </c:pt>
                <c:pt idx="13">
                  <c:v>М14</c:v>
                </c:pt>
                <c:pt idx="14">
                  <c:v>М15</c:v>
                </c:pt>
                <c:pt idx="15">
                  <c:v>М16</c:v>
                </c:pt>
                <c:pt idx="16">
                  <c:v>М17</c:v>
                </c:pt>
                <c:pt idx="17">
                  <c:v>М18</c:v>
                </c:pt>
                <c:pt idx="18">
                  <c:v>М19</c:v>
                </c:pt>
                <c:pt idx="19">
                  <c:v>М20</c:v>
                </c:pt>
                <c:pt idx="20">
                  <c:v>М21</c:v>
                </c:pt>
                <c:pt idx="21">
                  <c:v>М22</c:v>
                </c:pt>
                <c:pt idx="22">
                  <c:v>М23</c:v>
                </c:pt>
                <c:pt idx="23">
                  <c:v>М24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626</c:v>
                </c:pt>
                <c:pt idx="1">
                  <c:v>626</c:v>
                </c:pt>
                <c:pt idx="2">
                  <c:v>626</c:v>
                </c:pt>
                <c:pt idx="3">
                  <c:v>626</c:v>
                </c:pt>
                <c:pt idx="4">
                  <c:v>1136</c:v>
                </c:pt>
                <c:pt idx="5">
                  <c:v>1148</c:v>
                </c:pt>
                <c:pt idx="6">
                  <c:v>1165</c:v>
                </c:pt>
                <c:pt idx="7">
                  <c:v>1186</c:v>
                </c:pt>
                <c:pt idx="8">
                  <c:v>1211</c:v>
                </c:pt>
                <c:pt idx="9">
                  <c:v>1700</c:v>
                </c:pt>
                <c:pt idx="10">
                  <c:v>1734</c:v>
                </c:pt>
                <c:pt idx="11">
                  <c:v>1772</c:v>
                </c:pt>
                <c:pt idx="12">
                  <c:v>1815</c:v>
                </c:pt>
                <c:pt idx="13">
                  <c:v>1862</c:v>
                </c:pt>
                <c:pt idx="14">
                  <c:v>1912</c:v>
                </c:pt>
                <c:pt idx="15">
                  <c:v>1968</c:v>
                </c:pt>
                <c:pt idx="16">
                  <c:v>2028</c:v>
                </c:pt>
                <c:pt idx="17">
                  <c:v>2092</c:v>
                </c:pt>
                <c:pt idx="18">
                  <c:v>2160</c:v>
                </c:pt>
                <c:pt idx="19">
                  <c:v>2233</c:v>
                </c:pt>
                <c:pt idx="20">
                  <c:v>2309</c:v>
                </c:pt>
                <c:pt idx="21">
                  <c:v>2390</c:v>
                </c:pt>
                <c:pt idx="22">
                  <c:v>2474</c:v>
                </c:pt>
                <c:pt idx="23">
                  <c:v>2562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5A6472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sz="1000" b="1">
                    <a:solidFill>
                      <a:srgbClr val="5A6472"/>
                    </a:solidFill>
                    <a:latin typeface="Cambria"/>
                  </a:rPr>
                  <a:t>тыс ₽ / мес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A6472"/>
                </a:solidFill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100" b="1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874519"/>
            <a:ext cx="822960" cy="109728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6600" b="1" i="0">
                <a:solidFill>
                  <a:srgbClr val="FFFFFF"/>
                </a:solidFill>
                <a:latin typeface="Cambria"/>
              </a:rPr>
              <a:t>AIVibe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383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700" b="0" i="0">
                <a:solidFill>
                  <a:srgbClr val="CADCFC"/>
                </a:solidFill>
                <a:latin typeface="Arial"/>
              </a:rPr>
              <a:t>AI-дизайнер пространства для рынка РФ: рендер, расстановка по эргономике и AR — как инструмент профессионала, а не игрушка для разового покупателя.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470916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700016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Стратегия выхода на рынок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4709160"/>
            <a:ext cx="3017520" cy="457200"/>
          </a:xfrm>
          <a:prstGeom prst="roundRect">
            <a:avLst>
              <a:gd name="adj" fmla="val 50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4700016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5 сценариев · экономика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1" i="0">
                <a:solidFill>
                  <a:srgbClr val="9FADC2"/>
                </a:solidFill>
                <a:latin typeface="Arial"/>
              </a:rPr>
              <a:t>Инвест-презентация · июнь 2026 · КОНФИДЕНЦИАЛЬНО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1" i="0">
                <a:solidFill>
                  <a:srgbClr val="C9A24A"/>
                </a:solidFill>
                <a:latin typeface="Arial"/>
              </a:rPr>
              <a:t>РЫНОК И 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300" b="1" i="0">
                <a:solidFill>
                  <a:srgbClr val="14213D"/>
                </a:solidFill>
                <a:latin typeface="Cambria"/>
              </a:rPr>
              <a:t>Большой спрос — и высокая смертность ниши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700" b="1" i="0">
                <a:solidFill>
                  <a:srgbClr val="2A6F97"/>
                </a:solidFill>
                <a:latin typeface="Cambria"/>
              </a:rPr>
              <a:t>~700 млрд 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42032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рынок мебели РФ, 2024 (+20% г/г)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78308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1938528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700" b="1" i="0">
                <a:solidFill>
                  <a:srgbClr val="2A6F97"/>
                </a:solidFill>
                <a:latin typeface="Cambria"/>
              </a:rPr>
              <a:t>×4,7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2542032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рост рынка AI-interior к 2032 ($1,47→6,96 млрд)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78308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1938528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700" b="1" i="0">
                <a:solidFill>
                  <a:srgbClr val="2A6F97"/>
                </a:solidFill>
                <a:latin typeface="Cambria"/>
              </a:rPr>
              <a:t>раз в 5–10 лет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2542032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частота покупки мебели — корень всех смертей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290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50" b="0" i="0">
                <a:solidFill>
                  <a:srgbClr val="162033"/>
                </a:solidFill>
                <a:latin typeface="Arial"/>
              </a:rPr>
              <a:t>Та же ниша «AR/AI-дизайн интерьера» — кладбище: на ней по </a:t>
            </a:r>
            <a:r>
              <a:rPr sz="1450" b="1" i="0">
                <a:solidFill>
                  <a:srgbClr val="14213D"/>
                </a:solidFill>
                <a:latin typeface="Arial"/>
              </a:rPr>
              <a:t>одной и той же причине</a:t>
            </a:r>
            <a:r>
              <a:rPr sz="1450" b="0" i="0">
                <a:solidFill>
                  <a:srgbClr val="162033"/>
                </a:solidFill>
                <a:latin typeface="Arial"/>
              </a:rPr>
              <a:t> легли проекты с любым размером финансирования.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69080"/>
            <a:ext cx="146304" cy="384048"/>
          </a:xfrm>
          <a:prstGeom prst="rect">
            <a:avLst/>
          </a:prstGeom>
          <a:solidFill>
            <a:srgbClr val="9C3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50792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50" b="1" i="0">
                <a:solidFill>
                  <a:srgbClr val="14213D"/>
                </a:solidFill>
                <a:latin typeface="Arial"/>
              </a:rPr>
              <a:t>Modsy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050792"/>
            <a:ext cx="76809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5A6472"/>
                </a:solidFill>
                <a:latin typeface="Arial"/>
              </a:rPr>
              <a:t>$72,7M сожжено · закрылась 2022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581144"/>
            <a:ext cx="146304" cy="384048"/>
          </a:xfrm>
          <a:prstGeom prst="rect">
            <a:avLst/>
          </a:prstGeom>
          <a:solidFill>
            <a:srgbClr val="9C3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562856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50" b="1" i="0">
                <a:solidFill>
                  <a:srgbClr val="14213D"/>
                </a:solidFill>
                <a:latin typeface="Arial"/>
              </a:rPr>
              <a:t>Hutch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562856"/>
            <a:ext cx="76809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5A6472"/>
                </a:solidFill>
                <a:latin typeface="Arial"/>
              </a:rPr>
              <a:t>не вытянул комиссию → ушёл в игры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093208"/>
            <a:ext cx="146304" cy="384048"/>
          </a:xfrm>
          <a:prstGeom prst="rect">
            <a:avLst/>
          </a:prstGeom>
          <a:solidFill>
            <a:srgbClr val="9C3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074920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50" b="1" i="0">
                <a:solidFill>
                  <a:srgbClr val="14213D"/>
                </a:solidFill>
                <a:latin typeface="Arial"/>
              </a:rPr>
              <a:t>Havenly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074920"/>
            <a:ext cx="76809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5A6472"/>
                </a:solidFill>
                <a:latin typeface="Arial"/>
              </a:rPr>
              <a:t>выжила, лишь став ритейл-холдингом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605272"/>
            <a:ext cx="146304" cy="384048"/>
          </a:xfrm>
          <a:prstGeom prst="rect">
            <a:avLst/>
          </a:prstGeom>
          <a:solidFill>
            <a:srgbClr val="9C3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86984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50" b="1" i="0">
                <a:solidFill>
                  <a:srgbClr val="14213D"/>
                </a:solidFill>
                <a:latin typeface="Arial"/>
              </a:rPr>
              <a:t>Faradise (РФ)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5586984"/>
            <a:ext cx="76809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5A6472"/>
                </a:solidFill>
                <a:latin typeface="Arial"/>
              </a:rPr>
              <a:t>AR-маркетплейс умер ~2019 → B2B-студия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AIVibe · Инвест-презентация · конфиденциально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7395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1" i="0">
                <a:solidFill>
                  <a:srgbClr val="C9A24A"/>
                </a:solidFill>
                <a:latin typeface="Arial"/>
              </a:rPr>
              <a:t>ПОЧЕМУ НИША УБИВАЕТ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300" b="1" i="0">
                <a:solidFill>
                  <a:srgbClr val="14213D"/>
                </a:solidFill>
                <a:latin typeface="Cambria"/>
              </a:rPr>
              <a:t>Пять структурных причин смерти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810512"/>
            <a:ext cx="457200" cy="4572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9222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14213D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783080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550" b="1" i="0">
                <a:solidFill>
                  <a:srgbClr val="14213D"/>
                </a:solidFill>
                <a:latin typeface="Arial"/>
              </a:rPr>
              <a:t>Разовый спрос &lt; стоимости привлечения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148840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5A6472"/>
                </a:solidFill>
                <a:latin typeface="Arial"/>
              </a:rPr>
              <a:t>повторных покупок мебели лишь 14,7% → экономика массового пользователя убыточна by design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697479"/>
            <a:ext cx="457200" cy="4572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79191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14213D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670048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550" b="1" i="0">
                <a:solidFill>
                  <a:srgbClr val="14213D"/>
                </a:solidFill>
                <a:latin typeface="Arial"/>
              </a:rPr>
              <a:t>Комиссия с редкой покупки не масштабируется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035808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5A6472"/>
                </a:solidFill>
                <a:latin typeface="Arial"/>
              </a:rPr>
              <a:t>не помогли даже $72M: транзакций мало, атрибуция утекает, маржа тонкая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584447"/>
            <a:ext cx="457200" cy="4572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56615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14213D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557015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550" b="1" i="0">
                <a:solidFill>
                  <a:srgbClr val="14213D"/>
                </a:solidFill>
                <a:latin typeface="Arial"/>
              </a:rPr>
              <a:t>AR — паритетная фича, а не защита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922776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5A6472"/>
                </a:solidFill>
                <a:latin typeface="Arial"/>
              </a:rPr>
              <a:t>маркетплейсы раздают AR бесплатно; «летающие диваны» отпугивают пользователя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471416"/>
            <a:ext cx="457200" cy="4572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45312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14213D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443983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550" b="1" i="0">
                <a:solidFill>
                  <a:srgbClr val="14213D"/>
                </a:solidFill>
                <a:latin typeface="Arial"/>
              </a:rPr>
              <a:t>Пустой каталог + оцифровка дороже рынка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809744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5A6472"/>
                </a:solidFill>
                <a:latin typeface="Arial"/>
              </a:rPr>
              <a:t>двусторонняя платформа умирает с пустой стороной предложения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5358383"/>
            <a:ext cx="457200" cy="4572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4009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14213D"/>
                </a:solidFill>
                <a:latin typeface="Cambr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330951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550" b="1" i="0">
                <a:solidFill>
                  <a:srgbClr val="14213D"/>
                </a:solidFill>
                <a:latin typeface="Arial"/>
              </a:rPr>
              <a:t>Управление вслепую без аналитики/identity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696712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5A6472"/>
                </a:solidFill>
                <a:latin typeface="Arial"/>
              </a:rPr>
              <a:t>нельзя отличить прибыльный сегмент от убыточного → деньги в трубу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AIVibe · Инвест-презентация · конфиденциально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7395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1" i="0">
                <a:solidFill>
                  <a:srgbClr val="C9A24A"/>
                </a:solidFill>
                <a:latin typeface="Arial"/>
              </a:rPr>
              <a:t>КЛЮЧЕВОЙ ИНСАЙТ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Сменить </a:t>
            </a:r>
            <a:r>
              <a:rPr sz="3800" b="1" i="0">
                <a:solidFill>
                  <a:srgbClr val="C9A24A"/>
                </a:solidFill>
                <a:latin typeface="Cambria"/>
              </a:rPr>
              <a:t>плательщика</a:t>
            </a:r>
            <a:r>
              <a:rPr sz="3800" b="1" i="0">
                <a:solidFill>
                  <a:srgbClr val="FFFFFF"/>
                </a:solidFill>
                <a:latin typeface="Cambria"/>
              </a:rPr>
              <a:t> — не чинить воронку.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68880"/>
            <a:ext cx="5029200" cy="3108960"/>
          </a:xfrm>
          <a:prstGeom prst="roundRect">
            <a:avLst>
              <a:gd name="adj" fmla="val 5000"/>
            </a:avLst>
          </a:prstGeom>
          <a:solidFill>
            <a:srgbClr val="1E2A4A"/>
          </a:solidFill>
          <a:ln w="19050">
            <a:solidFill>
              <a:srgbClr val="9C38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69748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Массовый покупатель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200400"/>
            <a:ext cx="448056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450" b="0" i="0">
                <a:solidFill>
                  <a:srgbClr val="CADCFC"/>
                </a:solidFill>
                <a:latin typeface="Arial"/>
              </a:rPr>
              <a:t>• спрос раз в 5–10 лет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450" b="0" i="0">
                <a:solidFill>
                  <a:srgbClr val="CADCFC"/>
                </a:solidFill>
                <a:latin typeface="Arial"/>
              </a:rPr>
              <a:t>• LTV / CAC = 0,03–0,38 — убыток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450" b="0" i="0">
                <a:solidFill>
                  <a:srgbClr val="CADCFC"/>
                </a:solidFill>
                <a:latin typeface="Arial"/>
              </a:rPr>
              <a:t>• платная реклама запрещена арифметикой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450" b="0" i="0">
                <a:solidFill>
                  <a:srgbClr val="CADCFC"/>
                </a:solidFill>
                <a:latin typeface="Arial"/>
              </a:rPr>
              <a:t>• окупаемость: никогда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468880"/>
            <a:ext cx="5029200" cy="3108960"/>
          </a:xfrm>
          <a:prstGeom prst="roundRect">
            <a:avLst>
              <a:gd name="adj" fmla="val 5000"/>
            </a:avLst>
          </a:prstGeom>
          <a:solidFill>
            <a:srgbClr val="1E2A4A"/>
          </a:solidFill>
          <a:ln w="19050">
            <a:solidFill>
              <a:srgbClr val="1E7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69748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Профессионал с повторяющимся спросом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200400"/>
            <a:ext cx="448056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450" b="0" i="0">
                <a:solidFill>
                  <a:srgbClr val="CADCFC"/>
                </a:solidFill>
                <a:latin typeface="Arial"/>
              </a:rPr>
              <a:t>• десятки объектов / проектов в год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450" b="0" i="0">
                <a:solidFill>
                  <a:srgbClr val="CADCFC"/>
                </a:solidFill>
                <a:latin typeface="Arial"/>
              </a:rPr>
              <a:t>• LTV / CAC = 3–8 — здоровый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450" b="0" i="0">
                <a:solidFill>
                  <a:srgbClr val="CADCFC"/>
                </a:solidFill>
                <a:latin typeface="Arial"/>
              </a:rPr>
              <a:t>• платная реклама окупается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450" b="0" i="0">
                <a:solidFill>
                  <a:srgbClr val="CADCFC"/>
                </a:solidFill>
                <a:latin typeface="Arial"/>
              </a:rPr>
              <a:t>• окупаемость: 1–6 месяцев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C9A24A"/>
                </a:solidFill>
                <a:latin typeface="Arial"/>
              </a:rPr>
              <a:t>Мы зарабатываем на риелторе, застройщике и дизайнере — на той же кодовой базе.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CADCFC"/>
                </a:solidFill>
                <a:latin typeface="Arial"/>
              </a:rPr>
              <a:t>AIVibe · Инвест-презентация · конфиденциально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7395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CADCFC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1" i="0">
                <a:solidFill>
                  <a:srgbClr val="C9A24A"/>
                </a:solidFill>
                <a:latin typeface="Arial"/>
              </a:rPr>
              <a:t>ПРОДУКТ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300" b="1" i="0">
                <a:solidFill>
                  <a:srgbClr val="14213D"/>
                </a:solidFill>
                <a:latin typeface="Cambria"/>
              </a:rPr>
              <a:t>Один продукт: вход рендером → результат в бюджете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1993392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1" y="2468880"/>
            <a:ext cx="420624" cy="420624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245059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3035808"/>
            <a:ext cx="1664208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14213D"/>
                </a:solidFill>
                <a:latin typeface="Cambria"/>
              </a:rPr>
              <a:t>Фото / запрос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3657600"/>
            <a:ext cx="1664208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пользователь даёт фото комнаты или бриф</a:t>
            </a:r>
          </a:p>
        </p:txBody>
      </p:sp>
      <p:sp>
        <p:nvSpPr>
          <p:cNvPr id="10" name="Chevron 9"/>
          <p:cNvSpPr/>
          <p:nvPr/>
        </p:nvSpPr>
        <p:spPr>
          <a:xfrm>
            <a:off x="2615184" y="3246120"/>
            <a:ext cx="283464" cy="310896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80360" y="2286000"/>
            <a:ext cx="1993392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44952" y="2468880"/>
            <a:ext cx="420624" cy="420624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45059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3035808"/>
            <a:ext cx="1664208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14213D"/>
                </a:solidFill>
                <a:latin typeface="Cambria"/>
              </a:rPr>
              <a:t>AI-рендер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3657600"/>
            <a:ext cx="1664208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«фото → стиль» за секунды (YandexART)</a:t>
            </a:r>
          </a:p>
        </p:txBody>
      </p:sp>
      <p:sp>
        <p:nvSpPr>
          <p:cNvPr id="16" name="Chevron 15"/>
          <p:cNvSpPr/>
          <p:nvPr/>
        </p:nvSpPr>
        <p:spPr>
          <a:xfrm>
            <a:off x="4855464" y="3246120"/>
            <a:ext cx="283464" cy="310896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20640" y="2286000"/>
            <a:ext cx="1993392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85232" y="2468880"/>
            <a:ext cx="420624" cy="420624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85232" y="245059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2" y="3035808"/>
            <a:ext cx="1664208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14213D"/>
                </a:solidFill>
                <a:latin typeface="Cambria"/>
              </a:rPr>
              <a:t>Диалог-дизайнер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2" y="3657600"/>
            <a:ext cx="1664208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уточняет стиль и бюджет (YandexGPT)</a:t>
            </a:r>
          </a:p>
        </p:txBody>
      </p:sp>
      <p:sp>
        <p:nvSpPr>
          <p:cNvPr id="22" name="Chevron 21"/>
          <p:cNvSpPr/>
          <p:nvPr/>
        </p:nvSpPr>
        <p:spPr>
          <a:xfrm>
            <a:off x="7095744" y="3246120"/>
            <a:ext cx="283464" cy="310896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60920" y="2286000"/>
            <a:ext cx="1993392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25512" y="2468880"/>
            <a:ext cx="420624" cy="420624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25512" y="245059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25512" y="3035808"/>
            <a:ext cx="1664208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14213D"/>
                </a:solidFill>
                <a:latin typeface="Cambria"/>
              </a:rPr>
              <a:t>Расстановка по нормам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5512" y="3657600"/>
            <a:ext cx="1664208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детерминированный движок, без «летающих диванов»</a:t>
            </a:r>
          </a:p>
        </p:txBody>
      </p:sp>
      <p:sp>
        <p:nvSpPr>
          <p:cNvPr id="28" name="Chevron 27"/>
          <p:cNvSpPr/>
          <p:nvPr/>
        </p:nvSpPr>
        <p:spPr>
          <a:xfrm>
            <a:off x="9336024" y="3246120"/>
            <a:ext cx="283464" cy="310896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01200" y="2286000"/>
            <a:ext cx="1993392" cy="2286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765792" y="2468880"/>
            <a:ext cx="420624" cy="420624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65792" y="2450592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65792" y="3035808"/>
            <a:ext cx="1664208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14213D"/>
                </a:solidFill>
                <a:latin typeface="Cambria"/>
              </a:rPr>
              <a:t>Список покупок / 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65792" y="3657600"/>
            <a:ext cx="1664208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реальные товары в бюджете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07492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0" i="0">
                <a:solidFill>
                  <a:srgbClr val="162033"/>
                </a:solidFill>
                <a:latin typeface="Arial"/>
              </a:rPr>
              <a:t>Наш ров — не AR (это паритет), а </a:t>
            </a:r>
            <a:r>
              <a:rPr sz="1400" b="1" i="0">
                <a:solidFill>
                  <a:srgbClr val="14213D"/>
                </a:solidFill>
                <a:latin typeface="Arial"/>
              </a:rPr>
              <a:t>детерминированный движок расстановки</a:t>
            </a:r>
            <a:r>
              <a:rPr sz="1400" b="0" i="0">
                <a:solidFill>
                  <a:srgbClr val="162033"/>
                </a:solidFill>
                <a:latin typeface="Arial"/>
              </a:rPr>
              <a:t> по эргономике: он один соединяет «красивую картинку» с реальной купляемой комнатой.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AIVibe · Инвест-презентация · конфиденциально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47395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1" i="0">
                <a:solidFill>
                  <a:srgbClr val="C9A24A"/>
                </a:solidFill>
                <a:latin typeface="Arial"/>
              </a:rPr>
              <a:t>НЕСПРАВЕДЛИВОЕ ПРЕИМУЩЕСТВО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300" b="1" i="0">
                <a:solidFill>
                  <a:srgbClr val="14213D"/>
                </a:solidFill>
                <a:latin typeface="Cambria"/>
              </a:rPr>
              <a:t>Три актива, которых нет у других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52044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194560"/>
            <a:ext cx="640080" cy="64008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52544" y="1920240"/>
            <a:ext cx="352044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26864" y="2194560"/>
            <a:ext cx="640080" cy="64008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65008" y="1920240"/>
            <a:ext cx="352044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39328" y="2194560"/>
            <a:ext cx="640080" cy="64008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800" b="1" i="0">
                <a:solidFill>
                  <a:srgbClr val="14213D"/>
                </a:solidFill>
                <a:latin typeface="Cambria"/>
              </a:rPr>
              <a:t>Движок-ров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297180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 i="0">
                <a:solidFill>
                  <a:srgbClr val="5A6472"/>
                </a:solidFill>
                <a:latin typeface="Arial"/>
              </a:rPr>
              <a:t>Детерминированная расстановка (Kán &amp; Kaufmann). Считает геометрией, не нейросетью → не копируется «лучшим промптом» и не зависит от цены AI-токенов.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30175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800" b="1" i="0">
                <a:solidFill>
                  <a:srgbClr val="14213D"/>
                </a:solidFill>
                <a:latin typeface="Cambria"/>
              </a:rPr>
              <a:t>RU-резидентность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3611880"/>
            <a:ext cx="297180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 i="0">
                <a:solidFill>
                  <a:srgbClr val="5A6472"/>
                </a:solidFill>
                <a:latin typeface="Arial"/>
              </a:rPr>
              <a:t>Западные лидеры (InteriorAI, Spacely) в РФ платно недоступны. Мы принимаем рубли (ЮKassa), хостимся в Yandex Cloud — конкурент не может войти платёжно.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30175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800" b="1" i="0">
                <a:solidFill>
                  <a:srgbClr val="14213D"/>
                </a:solidFill>
                <a:latin typeface="Cambria"/>
              </a:rPr>
              <a:t>Живой продукт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3611880"/>
            <a:ext cx="297180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 i="0">
                <a:solidFill>
                  <a:srgbClr val="5A6472"/>
                </a:solidFill>
                <a:latin typeface="Arial"/>
              </a:rPr>
              <a:t>5 облачных функций уже в проде; диалоговый AI на отечественном стеке YandexGPT → GigaChat → CoreML с резервированием (Triplex Fallback).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AIVibe · Инвест-презентация · конфиденциально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1" i="0">
                <a:solidFill>
                  <a:srgbClr val="C9A24A"/>
                </a:solidFill>
                <a:latin typeface="Arial"/>
              </a:rPr>
              <a:t>РАЗВИЛКА СТРАТЕГИИ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300" b="1" i="0">
                <a:solidFill>
                  <a:srgbClr val="14213D"/>
                </a:solidFill>
                <a:latin typeface="Cambria"/>
              </a:rPr>
              <a:t>Пять путей — мы оценили каждый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881360" cy="566928"/>
          </a:xfrm>
          <a:prstGeom prst="rect">
            <a:avLst/>
          </a:prstGeom>
          <a:solidFill>
            <a:srgbClr val="14213D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65960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Путь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38928" y="1965960"/>
            <a:ext cx="10972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Маржа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9088" y="1965960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Ров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7" y="1965960"/>
            <a:ext cx="118872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Скорость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79407" y="1965960"/>
            <a:ext cx="246887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Решение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32888"/>
            <a:ext cx="10881360" cy="566928"/>
          </a:xfrm>
          <a:prstGeom prst="rect">
            <a:avLst/>
          </a:prstGeom>
          <a:solidFill>
            <a:srgbClr val="EEF2F8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532888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14213D"/>
                </a:solidFill>
                <a:latin typeface="Arial"/>
              </a:rPr>
              <a:t>S1 · Чистый AI-рендер по подписке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2532888"/>
            <a:ext cx="10972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5A6472"/>
                </a:solidFill>
                <a:latin typeface="Arial"/>
              </a:rPr>
              <a:t>высокая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532888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5A6472"/>
                </a:solidFill>
                <a:latin typeface="Arial"/>
              </a:rPr>
              <a:t>низкий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7" y="2532888"/>
            <a:ext cx="118872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5A6472"/>
                </a:solidFill>
                <a:latin typeface="Arial"/>
              </a:rPr>
              <a:t>высокая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9407" y="2532888"/>
            <a:ext cx="246887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50" b="1" i="0">
                <a:solidFill>
                  <a:srgbClr val="9C3848"/>
                </a:solidFill>
                <a:latin typeface="Arial"/>
              </a:rPr>
              <a:t>Не выбран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099816"/>
            <a:ext cx="10881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099816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14213D"/>
                </a:solidFill>
                <a:latin typeface="Arial"/>
              </a:rPr>
              <a:t>S2 · White-label инструмент фабрикам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3099816"/>
            <a:ext cx="10972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5A6472"/>
                </a:solidFill>
                <a:latin typeface="Arial"/>
              </a:rPr>
              <a:t>высокая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099816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5A6472"/>
                </a:solidFill>
                <a:latin typeface="Arial"/>
              </a:rPr>
              <a:t>средн.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7" y="3099816"/>
            <a:ext cx="118872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5A6472"/>
                </a:solidFill>
                <a:latin typeface="Arial"/>
              </a:rPr>
              <a:t>низкая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9407" y="3099816"/>
            <a:ext cx="246887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50" b="1" i="0">
                <a:solidFill>
                  <a:srgbClr val="9C3848"/>
                </a:solidFill>
                <a:latin typeface="Arial"/>
              </a:rPr>
              <a:t>Не выбран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666744"/>
            <a:ext cx="10881360" cy="566928"/>
          </a:xfrm>
          <a:prstGeom prst="rect">
            <a:avLst/>
          </a:prstGeom>
          <a:solidFill>
            <a:srgbClr val="EEF2F8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666744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14213D"/>
                </a:solidFill>
                <a:latin typeface="Arial"/>
              </a:rPr>
              <a:t>S3 · SaaS-инструмент для дизайнеров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8928" y="3666744"/>
            <a:ext cx="10972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5A6472"/>
                </a:solidFill>
                <a:latin typeface="Arial"/>
              </a:rPr>
              <a:t>средн.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3666744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5A6472"/>
                </a:solidFill>
                <a:latin typeface="Arial"/>
              </a:rPr>
              <a:t>средн.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7807" y="3666744"/>
            <a:ext cx="118872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5A6472"/>
                </a:solidFill>
                <a:latin typeface="Arial"/>
              </a:rPr>
              <a:t>средн.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9407" y="3666744"/>
            <a:ext cx="246887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50" b="1" i="0">
                <a:solidFill>
                  <a:srgbClr val="1E7A52"/>
                </a:solidFill>
                <a:latin typeface="Arial"/>
              </a:rPr>
              <a:t>Выбран · второй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233672"/>
            <a:ext cx="10881360" cy="566928"/>
          </a:xfrm>
          <a:prstGeom prst="rect">
            <a:avLst/>
          </a:prstGeom>
          <a:solidFill>
            <a:srgbClr val="E4EFEA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233672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1" i="0">
                <a:solidFill>
                  <a:srgbClr val="14213D"/>
                </a:solidFill>
                <a:latin typeface="Arial"/>
              </a:rPr>
              <a:t>S4 · Виртуальный стейджинг недвижимости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8928" y="4233672"/>
            <a:ext cx="10972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5A6472"/>
                </a:solidFill>
                <a:latin typeface="Arial"/>
              </a:rPr>
              <a:t>высокая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4233672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5A6472"/>
                </a:solidFill>
                <a:latin typeface="Arial"/>
              </a:rPr>
              <a:t>средн.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07807" y="4233672"/>
            <a:ext cx="118872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5A6472"/>
                </a:solidFill>
                <a:latin typeface="Arial"/>
              </a:rPr>
              <a:t>высокая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79407" y="4233672"/>
            <a:ext cx="246887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50" b="1" i="0">
                <a:solidFill>
                  <a:srgbClr val="1E7A52"/>
                </a:solidFill>
                <a:latin typeface="Arial"/>
              </a:rPr>
              <a:t>Выбран · основной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800600"/>
            <a:ext cx="10881360" cy="566928"/>
          </a:xfrm>
          <a:prstGeom prst="rect">
            <a:avLst/>
          </a:prstGeom>
          <a:solidFill>
            <a:srgbClr val="EEF2F8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4800600"/>
            <a:ext cx="411480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14213D"/>
                </a:solidFill>
                <a:latin typeface="Arial"/>
              </a:rPr>
              <a:t>S5 · Open-core / API-платформа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38928" y="4800600"/>
            <a:ext cx="109728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5A6472"/>
                </a:solidFill>
                <a:latin typeface="Arial"/>
              </a:rPr>
              <a:t>высокая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4800600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5A6472"/>
                </a:solidFill>
                <a:latin typeface="Arial"/>
              </a:rPr>
              <a:t>высокий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07807" y="4800600"/>
            <a:ext cx="118872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50" b="0" i="0">
                <a:solidFill>
                  <a:srgbClr val="5A6472"/>
                </a:solidFill>
                <a:latin typeface="Arial"/>
              </a:rPr>
              <a:t>низкая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79407" y="4800600"/>
            <a:ext cx="2468879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50" b="1" i="0">
                <a:solidFill>
                  <a:srgbClr val="9C3848"/>
                </a:solidFill>
                <a:latin typeface="Arial"/>
              </a:rPr>
              <a:t>Не выбран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477256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 i="0">
                <a:solidFill>
                  <a:srgbClr val="5A6472"/>
                </a:solidFill>
                <a:latin typeface="Arial"/>
              </a:rPr>
              <a:t>S1 — единственное преимущество принадлежит будущему конкуренту (Яндекс/Сбер). S2 — инструменту нет платящего спроса. S5 — рынка такого API в РФ пока нет.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AIVibe · Инвест-презентация · конфиденциально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647395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1" i="0">
                <a:solidFill>
                  <a:srgbClr val="C9A24A"/>
                </a:solidFill>
                <a:latin typeface="Arial"/>
              </a:rPr>
              <a:t>СЦЕНАРИЙ S1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600" b="1" i="0">
                <a:solidFill>
                  <a:srgbClr val="14213D"/>
                </a:solidFill>
                <a:latin typeface="Cambria"/>
              </a:rPr>
              <a:t>Чистый AI-рендер по подписке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2743200" cy="420624"/>
          </a:xfrm>
          <a:prstGeom prst="roundRect">
            <a:avLst>
              <a:gd name="adj" fmla="val 50000"/>
            </a:avLst>
          </a:prstGeom>
          <a:solidFill>
            <a:srgbClr val="9C3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63624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Не выбран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2A6F97"/>
                </a:solidFill>
                <a:latin typeface="Arial"/>
              </a:rPr>
              <a:t>КАК ЭТО РАБОТАЕТ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743200"/>
            <a:ext cx="402336" cy="40233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2491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0662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14213D"/>
                </a:solidFill>
                <a:latin typeface="Arial"/>
              </a:rPr>
              <a:t>Фото комнаты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3580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пользователь снимает свою комнату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493008"/>
            <a:ext cx="402336" cy="40233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4564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14213D"/>
                </a:solidFill>
                <a:latin typeface="Arial"/>
              </a:rPr>
              <a:t>Выбор стиля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785615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лофт / скандинавия / неоклассика…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242816"/>
            <a:ext cx="402336" cy="40233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2452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20624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14213D"/>
                </a:solidFill>
                <a:latin typeface="Arial"/>
              </a:rPr>
              <a:t>AI-рендер за 20 сек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53542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«фото → готовый интерьер»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992624"/>
            <a:ext cx="402336" cy="40233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97433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95604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14213D"/>
                </a:solidFill>
                <a:latin typeface="Arial"/>
              </a:rPr>
              <a:t>Поделиться «было / стало»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8523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вирусный бесплатный канал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806440"/>
            <a:ext cx="5669280" cy="64008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806440"/>
            <a:ext cx="521208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14213D"/>
                </a:solidFill>
                <a:latin typeface="Arial"/>
              </a:rPr>
              <a:t>Почему так: </a:t>
            </a:r>
            <a:r>
              <a:rPr sz="1150" b="0" i="0">
                <a:solidFill>
                  <a:srgbClr val="5A6472"/>
                </a:solidFill>
                <a:latin typeface="Arial"/>
              </a:rPr>
              <a:t>ров принадлежит будущему конкуренту (Яндекс/Сбер) — копируется за один спринт.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95360" y="1554480"/>
            <a:ext cx="2651760" cy="448056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705088" y="1719072"/>
            <a:ext cx="2432304" cy="41513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833104" y="1847088"/>
            <a:ext cx="2176272" cy="2020824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33104" y="1847088"/>
            <a:ext cx="2176272" cy="20208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5A6472"/>
                </a:solidFill>
                <a:latin typeface="Cambria"/>
              </a:rPr>
              <a:t>ФОТО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33104" y="3959352"/>
            <a:ext cx="2176272" cy="2020824"/>
          </a:xfrm>
          <a:prstGeom prst="roundRect">
            <a:avLst>
              <a:gd name="adj" fmla="val 5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33104" y="3959352"/>
            <a:ext cx="2176272" cy="20208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РЕНДЕР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AIVibe · Инвест-презентация · конфиденциально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7395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1" i="0">
                <a:solidFill>
                  <a:srgbClr val="C9A24A"/>
                </a:solidFill>
                <a:latin typeface="Arial"/>
              </a:rPr>
              <a:t>СЦЕНАРИЙ S2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600" b="1" i="0">
                <a:solidFill>
                  <a:srgbClr val="14213D"/>
                </a:solidFill>
                <a:latin typeface="Cambria"/>
              </a:rPr>
              <a:t>White-label инструмент для фабрик и ритейла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2743200" cy="420624"/>
          </a:xfrm>
          <a:prstGeom prst="roundRect">
            <a:avLst>
              <a:gd name="adj" fmla="val 50000"/>
            </a:avLst>
          </a:prstGeom>
          <a:solidFill>
            <a:srgbClr val="9C3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63624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Не выбран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2A6F97"/>
                </a:solidFill>
                <a:latin typeface="Arial"/>
              </a:rPr>
              <a:t>КАК ЭТО РАБОТАЕТ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743200"/>
            <a:ext cx="402336" cy="40233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2491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0662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14213D"/>
                </a:solidFill>
                <a:latin typeface="Arial"/>
              </a:rPr>
              <a:t>Каталог фабрики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3580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товары на сайте фабрики/магазина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493008"/>
            <a:ext cx="402336" cy="40233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4564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14213D"/>
                </a:solidFill>
                <a:latin typeface="Arial"/>
              </a:rPr>
              <a:t>Виджет AIVibe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785615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встраивается строкой кода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242816"/>
            <a:ext cx="402336" cy="40233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2452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20624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14213D"/>
                </a:solidFill>
                <a:latin typeface="Arial"/>
              </a:rPr>
              <a:t>«Примерить + расстановка»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53542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AR + расчёт по эргономике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992624"/>
            <a:ext cx="402336" cy="40233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97433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95604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14213D"/>
                </a:solidFill>
                <a:latin typeface="Arial"/>
              </a:rPr>
              <a:t>Рост конверсии карточки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8523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фабрика платит за инструмент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806440"/>
            <a:ext cx="5669280" cy="64008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806440"/>
            <a:ext cx="521208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14213D"/>
                </a:solidFill>
                <a:latin typeface="Arial"/>
              </a:rPr>
              <a:t>Почему так: </a:t>
            </a:r>
            <a:r>
              <a:rPr sz="1150" b="0" i="0">
                <a:solidFill>
                  <a:srgbClr val="5A6472"/>
                </a:solidFill>
                <a:latin typeface="Arial"/>
              </a:rPr>
              <a:t>инструменту нет платящего спроса; дешёвый аналог (Arigami) уже от 990 ₽.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2377440"/>
            <a:ext cx="4480560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40880" y="2377440"/>
            <a:ext cx="4480560" cy="45720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205472" y="2532888"/>
            <a:ext cx="146304" cy="146304"/>
          </a:xfrm>
          <a:prstGeom prst="ellipse">
            <a:avLst/>
          </a:prstGeom>
          <a:solidFill>
            <a:srgbClr val="9C3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06640" y="2532888"/>
            <a:ext cx="146304" cy="146304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607808" y="2532888"/>
            <a:ext cx="146304" cy="146304"/>
          </a:xfrm>
          <a:prstGeom prst="ellipse">
            <a:avLst/>
          </a:prstGeom>
          <a:solidFill>
            <a:srgbClr val="1E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955279" y="2487168"/>
            <a:ext cx="329184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2487168"/>
            <a:ext cx="310896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950" b="0" i="0">
                <a:solidFill>
                  <a:srgbClr val="5A6472"/>
                </a:solidFill>
                <a:latin typeface="Arial"/>
              </a:rPr>
              <a:t>фабрика.рф/диван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3063240"/>
            <a:ext cx="2651760" cy="210312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0" y="3063240"/>
            <a:ext cx="2651760" cy="2103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5A6472"/>
                </a:solidFill>
                <a:latin typeface="Cambria"/>
              </a:rPr>
              <a:t>3D-модель
товара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104120" y="3291840"/>
            <a:ext cx="1188720" cy="502920"/>
          </a:xfrm>
          <a:prstGeom prst="roundRect">
            <a:avLst>
              <a:gd name="adj" fmla="val 30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04120" y="3291840"/>
            <a:ext cx="118872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Примерить в комнате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104120" y="393192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E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04120" y="3931920"/>
            <a:ext cx="11887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000" b="1" i="0">
                <a:solidFill>
                  <a:srgbClr val="1E7A52"/>
                </a:solidFill>
                <a:latin typeface="Arial"/>
              </a:rPr>
              <a:t>+конверсия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AIVibe · Инвест-презентация · конфиденциально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647395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1" i="0">
                <a:solidFill>
                  <a:srgbClr val="C9A24A"/>
                </a:solidFill>
                <a:latin typeface="Arial"/>
              </a:rPr>
              <a:t>СЦЕНАРИЙ S3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600" b="1" i="0">
                <a:solidFill>
                  <a:srgbClr val="14213D"/>
                </a:solidFill>
                <a:latin typeface="Cambria"/>
              </a:rPr>
              <a:t>Вертикальный SaaS для дизайнеров интерьера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2743200" cy="420624"/>
          </a:xfrm>
          <a:prstGeom prst="roundRect">
            <a:avLst>
              <a:gd name="adj" fmla="val 50000"/>
            </a:avLst>
          </a:prstGeom>
          <a:solidFill>
            <a:srgbClr val="1E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63624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Выбран · второй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2A6F97"/>
                </a:solidFill>
                <a:latin typeface="Arial"/>
              </a:rPr>
              <a:t>КАК ЭТО РАБОТАЕТ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743200"/>
            <a:ext cx="402336" cy="40233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2491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0662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14213D"/>
                </a:solidFill>
                <a:latin typeface="Arial"/>
              </a:rPr>
              <a:t>Бриф клиента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3580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дизайнер заводит проект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493008"/>
            <a:ext cx="402336" cy="40233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4564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14213D"/>
                </a:solidFill>
                <a:latin typeface="Arial"/>
              </a:rPr>
              <a:t>AI-рендер + расстановка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785615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вариант за минуту, без «летающих диванов»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242816"/>
            <a:ext cx="402336" cy="40233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2452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20624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14213D"/>
                </a:solidFill>
                <a:latin typeface="Arial"/>
              </a:rPr>
              <a:t>AR-презентация клиенту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53542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показывает с телефона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992624"/>
            <a:ext cx="402336" cy="40233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97433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95604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14213D"/>
                </a:solidFill>
                <a:latin typeface="Arial"/>
              </a:rPr>
              <a:t>Смета и список покупок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8523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закрывает сделку быстрее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806440"/>
            <a:ext cx="5669280" cy="64008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806440"/>
            <a:ext cx="521208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14213D"/>
                </a:solidFill>
                <a:latin typeface="Arial"/>
              </a:rPr>
              <a:t>Почему так: </a:t>
            </a:r>
            <a:r>
              <a:rPr sz="1150" b="0" i="0">
                <a:solidFill>
                  <a:srgbClr val="5A6472"/>
                </a:solidFill>
                <a:latin typeface="Arial"/>
              </a:rPr>
              <a:t>дизайнер платит сам, бесплатно приводит клиентов и гонит заказы фабрикам.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2377440"/>
            <a:ext cx="448056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78040" y="2514600"/>
            <a:ext cx="1234440" cy="292608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96912" y="26974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Проекты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96912" y="3063240"/>
            <a:ext cx="987552" cy="347472"/>
          </a:xfrm>
          <a:prstGeom prst="roundRect">
            <a:avLst>
              <a:gd name="adj" fmla="val 20000"/>
            </a:avLst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96912" y="3063240"/>
            <a:ext cx="98755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900" b="1" i="0">
                <a:solidFill>
                  <a:srgbClr val="14213D"/>
                </a:solidFill>
                <a:latin typeface="Arial"/>
              </a:rPr>
              <a:t>Клиент 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96912" y="3520440"/>
            <a:ext cx="987552" cy="347472"/>
          </a:xfrm>
          <a:prstGeom prst="roundRect">
            <a:avLst>
              <a:gd name="adj" fmla="val 20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96912" y="3520440"/>
            <a:ext cx="98755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900" b="1" i="0">
                <a:solidFill>
                  <a:srgbClr val="CADCFC"/>
                </a:solidFill>
                <a:latin typeface="Arial"/>
              </a:rPr>
              <a:t>Клиент 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96912" y="3977639"/>
            <a:ext cx="987552" cy="347472"/>
          </a:xfrm>
          <a:prstGeom prst="roundRect">
            <a:avLst>
              <a:gd name="adj" fmla="val 20000"/>
            </a:avLst>
          </a:prstGeom>
          <a:solidFill>
            <a:srgbClr val="1E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96912" y="3977639"/>
            <a:ext cx="98755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900" b="1" i="0">
                <a:solidFill>
                  <a:srgbClr val="CADCFC"/>
                </a:solidFill>
                <a:latin typeface="Arial"/>
              </a:rPr>
              <a:t>Клиент В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49640" y="2606040"/>
            <a:ext cx="2788920" cy="1828800"/>
          </a:xfrm>
          <a:prstGeom prst="roundRect">
            <a:avLst>
              <a:gd name="adj" fmla="val 4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9640" y="2606040"/>
            <a:ext cx="2788920" cy="1828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5A6472"/>
                </a:solidFill>
                <a:latin typeface="Cambria"/>
              </a:rPr>
              <a:t>Рендер + расстановка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49640" y="4617720"/>
            <a:ext cx="1284732" cy="502920"/>
          </a:xfrm>
          <a:prstGeom prst="roundRect">
            <a:avLst>
              <a:gd name="adj" fmla="val 25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49640" y="4617720"/>
            <a:ext cx="1284732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AR клиенту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44100" y="4617720"/>
            <a:ext cx="1284732" cy="502920"/>
          </a:xfrm>
          <a:prstGeom prst="roundRect">
            <a:avLst>
              <a:gd name="adj" fmla="val 25000"/>
            </a:avLst>
          </a:prstGeom>
          <a:solidFill>
            <a:srgbClr val="1E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44100" y="4617720"/>
            <a:ext cx="1284732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Смета / покупки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AIVibe · Инвест-презентация · конфиденциально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0" y="647395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1" i="0">
                <a:solidFill>
                  <a:srgbClr val="C9A24A"/>
                </a:solidFill>
                <a:latin typeface="Arial"/>
              </a:rPr>
              <a:t>СЦЕНАРИЙ S4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600" b="1" i="0">
                <a:solidFill>
                  <a:srgbClr val="14213D"/>
                </a:solidFill>
                <a:latin typeface="Cambria"/>
              </a:rPr>
              <a:t>Виртуальный стейджинг недвижимости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2743200" cy="420624"/>
          </a:xfrm>
          <a:prstGeom prst="roundRect">
            <a:avLst>
              <a:gd name="adj" fmla="val 50000"/>
            </a:avLst>
          </a:prstGeom>
          <a:solidFill>
            <a:srgbClr val="1E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63624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Выбран · основной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572768"/>
            <a:ext cx="1371600" cy="420624"/>
          </a:xfrm>
          <a:prstGeom prst="roundRect">
            <a:avLst>
              <a:gd name="adj" fmla="val 50000"/>
            </a:avLst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563624"/>
            <a:ext cx="13716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14213D"/>
                </a:solidFill>
                <a:latin typeface="Arial"/>
              </a:rPr>
              <a:t>★ ТАРАН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2A6F97"/>
                </a:solidFill>
                <a:latin typeface="Arial"/>
              </a:rPr>
              <a:t>КАК ЭТО РАБОТАЕТ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743200"/>
            <a:ext cx="402336" cy="40233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2491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70662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14213D"/>
                </a:solidFill>
                <a:latin typeface="Arial"/>
              </a:rPr>
              <a:t>Фото пустой комнаты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3580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риелтор снимает с телефона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493008"/>
            <a:ext cx="402336" cy="40233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47472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4564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14213D"/>
                </a:solidFill>
                <a:latin typeface="Arial"/>
              </a:rPr>
              <a:t>Выбор стиля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785615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под продажу / под аренду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242816"/>
            <a:ext cx="402336" cy="40233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22452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20624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14213D"/>
                </a:solidFill>
                <a:latin typeface="Arial"/>
              </a:rPr>
              <a:t>AI-меблировка за 90 сек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53542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движок ставит мебель по нормам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4992624"/>
            <a:ext cx="402336" cy="40233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97433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95604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14213D"/>
                </a:solidFill>
                <a:latin typeface="Arial"/>
              </a:rPr>
              <a:t>В объявление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28523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Авито / Циан / Домклик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806440"/>
            <a:ext cx="5669280" cy="64008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806440"/>
            <a:ext cx="521208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14213D"/>
                </a:solidFill>
                <a:latin typeface="Arial"/>
              </a:rPr>
              <a:t>Почему так: </a:t>
            </a:r>
            <a:r>
              <a:rPr sz="1150" b="0" i="0">
                <a:solidFill>
                  <a:srgbClr val="5A6472"/>
                </a:solidFill>
                <a:latin typeface="Arial"/>
              </a:rPr>
              <a:t>платит риелтор/застройщик с десятками объектов в год — спрос повторяющийся.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283464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EEF2F8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2834640"/>
            <a:ext cx="1965960" cy="1828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5A6472"/>
                </a:solidFill>
                <a:latin typeface="Cambria"/>
              </a:rPr>
              <a:t>ПУСТАЯ
КОМНАТА</a:t>
            </a:r>
          </a:p>
        </p:txBody>
      </p:sp>
      <p:sp>
        <p:nvSpPr>
          <p:cNvPr id="30" name="Chevron 29"/>
          <p:cNvSpPr/>
          <p:nvPr/>
        </p:nvSpPr>
        <p:spPr>
          <a:xfrm>
            <a:off x="9043415" y="3566160"/>
            <a:ext cx="292608" cy="329184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372600" y="283464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2834640"/>
            <a:ext cx="1965960" cy="1828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mbria"/>
              </a:rPr>
              <a:t>ОБСТАВЛЕНО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23960" y="4846320"/>
            <a:ext cx="2331720" cy="566928"/>
          </a:xfrm>
          <a:prstGeom prst="roundRect">
            <a:avLst>
              <a:gd name="adj" fmla="val 20000"/>
            </a:avLst>
          </a:prstGeom>
          <a:solidFill>
            <a:srgbClr val="E4EFEA"/>
          </a:solidFill>
          <a:ln w="12700">
            <a:solidFill>
              <a:srgbClr val="1E7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23960" y="4846320"/>
            <a:ext cx="233172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1E7A52"/>
                </a:solidFill>
                <a:latin typeface="Arial"/>
              </a:rPr>
              <a:t>→ в объявление Авито / Циан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AIVibe · Инвест-презентация · конфиденциально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47395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1" i="0">
                <a:solidFill>
                  <a:srgbClr val="C9A24A"/>
                </a:solidFill>
                <a:latin typeface="Arial"/>
              </a:rPr>
              <a:t>СЦЕНАРИЙ S5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58952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600" b="1" i="0">
                <a:solidFill>
                  <a:srgbClr val="14213D"/>
                </a:solidFill>
                <a:latin typeface="Cambria"/>
              </a:rPr>
              <a:t>Open-core / API-платформа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72768"/>
            <a:ext cx="2743200" cy="420624"/>
          </a:xfrm>
          <a:prstGeom prst="roundRect">
            <a:avLst>
              <a:gd name="adj" fmla="val 50000"/>
            </a:avLst>
          </a:prstGeom>
          <a:solidFill>
            <a:srgbClr val="9C3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63624"/>
            <a:ext cx="27432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Не выбран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2A6F97"/>
                </a:solidFill>
                <a:latin typeface="Arial"/>
              </a:rPr>
              <a:t>КАК ЭТО РАБОТАЕТ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743200"/>
            <a:ext cx="402336" cy="40233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24912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06624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14213D"/>
                </a:solidFill>
                <a:latin typeface="Arial"/>
              </a:rPr>
              <a:t>Open-source ядро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03580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движок расстановки на GitHub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493008"/>
            <a:ext cx="402336" cy="40233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45643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14213D"/>
                </a:solidFill>
                <a:latin typeface="Arial"/>
              </a:rPr>
              <a:t>API-ключ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785615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разработчик регистрируется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242816"/>
            <a:ext cx="402336" cy="40233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2452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20624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14213D"/>
                </a:solidFill>
                <a:latin typeface="Arial"/>
              </a:rPr>
              <a:t>Вызов /arrange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53542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получает координаты без коллизий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4992624"/>
            <a:ext cx="402336" cy="40233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97433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956048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14213D"/>
                </a:solidFill>
                <a:latin typeface="Arial"/>
              </a:rPr>
              <a:t>Интеграция в продукт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528523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платит за хостинг/SLA/ассеты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806440"/>
            <a:ext cx="5669280" cy="640080"/>
          </a:xfrm>
          <a:prstGeom prst="roundRect">
            <a:avLst>
              <a:gd name="adj" fmla="val 12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806440"/>
            <a:ext cx="521208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1" i="0">
                <a:solidFill>
                  <a:srgbClr val="14213D"/>
                </a:solidFill>
                <a:latin typeface="Arial"/>
              </a:rPr>
              <a:t>Почему так: </a:t>
            </a:r>
            <a:r>
              <a:rPr sz="1150" b="0" i="0">
                <a:solidFill>
                  <a:srgbClr val="5A6472"/>
                </a:solidFill>
                <a:latin typeface="Arial"/>
              </a:rPr>
              <a:t>рынка такого API в РФ пока нет — категорию пришлось бы создавать годами.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3703320"/>
            <a:ext cx="1737360" cy="82296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703320"/>
            <a:ext cx="1737360" cy="8229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300" b="1" i="0">
                <a:solidFill>
                  <a:srgbClr val="C9A24A"/>
                </a:solidFill>
                <a:latin typeface="Cambria"/>
              </a:rPr>
              <a:t>/arrange
API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0" y="2560320"/>
            <a:ext cx="11582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2560320"/>
            <a:ext cx="115824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050" b="1" i="0">
                <a:solidFill>
                  <a:srgbClr val="14213D"/>
                </a:solidFill>
                <a:latin typeface="Arial"/>
              </a:rPr>
              <a:t>AR-приложения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64880" y="2560320"/>
            <a:ext cx="11582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64880" y="2560320"/>
            <a:ext cx="115824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050" b="1" i="0">
                <a:solidFill>
                  <a:srgbClr val="14213D"/>
                </a:solidFill>
                <a:latin typeface="Arial"/>
              </a:rPr>
              <a:t>Фабрики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97440" y="2560320"/>
            <a:ext cx="115824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97440" y="2560320"/>
            <a:ext cx="115824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050" b="1" i="0">
                <a:solidFill>
                  <a:srgbClr val="14213D"/>
                </a:solidFill>
                <a:latin typeface="Arial"/>
              </a:rPr>
              <a:t>Дизайн-тулы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0" y="4937760"/>
            <a:ext cx="3749040" cy="548640"/>
          </a:xfrm>
          <a:prstGeom prst="roundRect">
            <a:avLst>
              <a:gd name="adj" fmla="val 10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4937760"/>
            <a:ext cx="37490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050" b="1" i="0">
                <a:solidFill>
                  <a:srgbClr val="5A6472"/>
                </a:solidFill>
                <a:latin typeface="Arial"/>
              </a:rPr>
              <a:t>open-source ядро · усиление через сообщество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AIVibe · Инвест-презентация · конфиденциально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47395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1" i="0">
                <a:solidFill>
                  <a:srgbClr val="C9A24A"/>
                </a:solidFill>
                <a:latin typeface="Arial"/>
              </a:rPr>
              <a:t>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300" b="1" i="0">
                <a:solidFill>
                  <a:srgbClr val="14213D"/>
                </a:solidFill>
                <a:latin typeface="Cambria"/>
              </a:rPr>
              <a:t>Стейджинг-таран + дизайнеры на одной кодовой базе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65836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121408"/>
            <a:ext cx="310896" cy="310896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084832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600" b="1" i="0">
                <a:solidFill>
                  <a:srgbClr val="14213D"/>
                </a:solidFill>
                <a:latin typeface="Cambria"/>
              </a:rPr>
              <a:t>S4 · Виртуальный стейджинг — таран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78608"/>
            <a:ext cx="598932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Лучшая экономика и скорость. Риелторы и застройщики (пакет на ЖК — несущий чек). AR и сканер уходят с критического пути.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20440"/>
            <a:ext cx="658368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721608"/>
            <a:ext cx="310896" cy="31089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685032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600" b="1" i="0">
                <a:solidFill>
                  <a:srgbClr val="14213D"/>
                </a:solidFill>
                <a:latin typeface="Cambria"/>
              </a:rPr>
              <a:t>S3 · Дизайнеры — второй сегмент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178808"/>
            <a:ext cx="598932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Тот же движок и рендер. Дизайнер платит сам и бесплатно приводит клиентов → включает партнёрский слой «чужими руками».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920240"/>
            <a:ext cx="4023360" cy="2926080"/>
          </a:xfrm>
          <a:prstGeom prst="roundRect">
            <a:avLst>
              <a:gd name="adj" fmla="val 5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214884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600" b="1" i="0">
                <a:solidFill>
                  <a:srgbClr val="C9A24A"/>
                </a:solidFill>
                <a:latin typeface="Cambria"/>
              </a:rPr>
              <a:t>Одна кодовая база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697480"/>
            <a:ext cx="3566160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Arial"/>
              </a:rPr>
              <a:t>✓ движок расстановки (ров)</a:t>
            </a:r>
          </a:p>
          <a:p>
            <a:pPr algn="l">
              <a:lnSpc>
                <a:spcPct val="155000"/>
              </a:lnSpc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Arial"/>
              </a:rPr>
              <a:t>✓ AI-рендер на YandexART</a:t>
            </a:r>
          </a:p>
          <a:p>
            <a:pPr algn="l">
              <a:lnSpc>
                <a:spcPct val="155000"/>
              </a:lnSpc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Arial"/>
              </a:rPr>
              <a:t>✓ диалоговый AI · Triplex Fallback</a:t>
            </a:r>
          </a:p>
          <a:p>
            <a:pPr algn="l">
              <a:lnSpc>
                <a:spcPct val="155000"/>
              </a:lnSpc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Arial"/>
              </a:rPr>
              <a:t>✓ контур оплат ЮKassa</a:t>
            </a:r>
          </a:p>
          <a:p>
            <a:pPr algn="l">
              <a:lnSpc>
                <a:spcPct val="155000"/>
              </a:lnSpc>
              <a:spcAft>
                <a:spcPts val="500"/>
              </a:spcAft>
            </a:pPr>
            <a:r>
              <a:rPr sz="1300" b="0" i="0">
                <a:solidFill>
                  <a:srgbClr val="CADCFC"/>
                </a:solidFill>
                <a:latin typeface="Arial"/>
              </a:rPr>
              <a:t>✓ ~70% кода переиспользуется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21208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0" i="0">
                <a:solidFill>
                  <a:srgbClr val="5A6472"/>
                </a:solidFill>
                <a:latin typeface="Arial"/>
              </a:rPr>
              <a:t>Заостряет более ранний вывод (дизайнеры-first): у стейджинга экономика строго лучше — быстрее до денег и выше маржа, поэтому он становится денежным тараном.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AIVibe · Инвест-презентация · конфиденциально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1" i="0">
                <a:solidFill>
                  <a:srgbClr val="C9A24A"/>
                </a:solidFill>
                <a:latin typeface="Arial"/>
              </a:rPr>
              <a:t>ПРОДУКТ ДЕТАЛЬНО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300" b="1" i="0">
                <a:solidFill>
                  <a:srgbClr val="14213D"/>
                </a:solidFill>
                <a:latin typeface="Cambria"/>
              </a:rPr>
              <a:t>SaaS для дизайнеров: сквозная цепочка в одном окне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084831"/>
            <a:ext cx="310896" cy="31089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066543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23160"/>
            <a:ext cx="132588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14213D"/>
                </a:solidFill>
                <a:latin typeface="Arial"/>
              </a:rPr>
              <a:t>Бриф</a:t>
            </a:r>
          </a:p>
        </p:txBody>
      </p:sp>
      <p:sp>
        <p:nvSpPr>
          <p:cNvPr id="9" name="Chevron 8"/>
          <p:cNvSpPr/>
          <p:nvPr/>
        </p:nvSpPr>
        <p:spPr>
          <a:xfrm>
            <a:off x="2029968" y="2267712"/>
            <a:ext cx="182880" cy="27432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21991" y="1965960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331720" y="2084831"/>
            <a:ext cx="310896" cy="31089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2066543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7711" y="2423160"/>
            <a:ext cx="132588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14213D"/>
                </a:solidFill>
                <a:latin typeface="Arial"/>
              </a:rPr>
              <a:t>Стиль</a:t>
            </a:r>
          </a:p>
        </p:txBody>
      </p:sp>
      <p:sp>
        <p:nvSpPr>
          <p:cNvPr id="14" name="Chevron 13"/>
          <p:cNvSpPr/>
          <p:nvPr/>
        </p:nvSpPr>
        <p:spPr>
          <a:xfrm>
            <a:off x="3611879" y="2267712"/>
            <a:ext cx="182880" cy="27432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803904" y="1965960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913632" y="2084831"/>
            <a:ext cx="310896" cy="31089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13632" y="2066543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9624" y="2423160"/>
            <a:ext cx="132588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14213D"/>
                </a:solidFill>
                <a:latin typeface="Arial"/>
              </a:rPr>
              <a:t>Расстановка</a:t>
            </a:r>
          </a:p>
        </p:txBody>
      </p:sp>
      <p:sp>
        <p:nvSpPr>
          <p:cNvPr id="19" name="Chevron 18"/>
          <p:cNvSpPr/>
          <p:nvPr/>
        </p:nvSpPr>
        <p:spPr>
          <a:xfrm>
            <a:off x="5193792" y="2267712"/>
            <a:ext cx="182880" cy="27432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85816" y="1965960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95544" y="2084831"/>
            <a:ext cx="310896" cy="31089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95544" y="2066543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31536" y="2423160"/>
            <a:ext cx="132588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14213D"/>
                </a:solidFill>
                <a:latin typeface="Arial"/>
              </a:rPr>
              <a:t>Презентация</a:t>
            </a:r>
          </a:p>
        </p:txBody>
      </p:sp>
      <p:sp>
        <p:nvSpPr>
          <p:cNvPr id="24" name="Chevron 23"/>
          <p:cNvSpPr/>
          <p:nvPr/>
        </p:nvSpPr>
        <p:spPr>
          <a:xfrm>
            <a:off x="6775703" y="2267712"/>
            <a:ext cx="182880" cy="27432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67728" y="1965960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077456" y="2084831"/>
            <a:ext cx="310896" cy="31089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77456" y="2066543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2423160"/>
            <a:ext cx="132588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14213D"/>
                </a:solidFill>
                <a:latin typeface="Arial"/>
              </a:rPr>
              <a:t>Спец-ция</a:t>
            </a:r>
          </a:p>
        </p:txBody>
      </p:sp>
      <p:sp>
        <p:nvSpPr>
          <p:cNvPr id="29" name="Chevron 28"/>
          <p:cNvSpPr/>
          <p:nvPr/>
        </p:nvSpPr>
        <p:spPr>
          <a:xfrm>
            <a:off x="8357616" y="2267712"/>
            <a:ext cx="182880" cy="27432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549640" y="1965960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659367" y="2084831"/>
            <a:ext cx="310896" cy="31089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59367" y="2066543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2423160"/>
            <a:ext cx="132588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14213D"/>
                </a:solidFill>
                <a:latin typeface="Arial"/>
              </a:rPr>
              <a:t>Смета</a:t>
            </a:r>
          </a:p>
        </p:txBody>
      </p:sp>
      <p:sp>
        <p:nvSpPr>
          <p:cNvPr id="34" name="Chevron 33"/>
          <p:cNvSpPr/>
          <p:nvPr/>
        </p:nvSpPr>
        <p:spPr>
          <a:xfrm>
            <a:off x="9939528" y="2267712"/>
            <a:ext cx="182880" cy="27432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131551" y="1965960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41279" y="2084831"/>
            <a:ext cx="310896" cy="310896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79" y="2066543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77272" y="2423160"/>
            <a:ext cx="132588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100" b="1" i="0">
                <a:solidFill>
                  <a:srgbClr val="14213D"/>
                </a:solidFill>
                <a:latin typeface="Arial"/>
              </a:rPr>
              <a:t>Закупка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3200400"/>
            <a:ext cx="3520440" cy="20574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14400" y="3474720"/>
            <a:ext cx="457200" cy="4572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406908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50" b="1" i="0">
                <a:solidFill>
                  <a:srgbClr val="14213D"/>
                </a:solidFill>
                <a:latin typeface="Cambria"/>
              </a:rPr>
              <a:t>Расстановка по нормам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553712"/>
            <a:ext cx="297180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 i="0">
                <a:solidFill>
                  <a:srgbClr val="5A6472"/>
                </a:solidFill>
                <a:latin typeface="Arial"/>
              </a:rPr>
              <a:t>детерминированный движок, без «летающих диванов» — повторяемо и редактируемо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52544" y="3200400"/>
            <a:ext cx="3520440" cy="20574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626864" y="3474720"/>
            <a:ext cx="457200" cy="4572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26864" y="406908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50" b="1" i="0">
                <a:solidFill>
                  <a:srgbClr val="14213D"/>
                </a:solidFill>
                <a:latin typeface="Cambria"/>
              </a:rPr>
              <a:t>Смета в ₽ с живыми ценами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26864" y="4553712"/>
            <a:ext cx="297180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 i="0">
                <a:solidFill>
                  <a:srgbClr val="5A6472"/>
                </a:solidFill>
                <a:latin typeface="Arial"/>
              </a:rPr>
              <a:t>спецификация и смета связаны с рендером; цены/наличие РФ-фабрик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65008" y="3200400"/>
            <a:ext cx="3520440" cy="2057400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339328" y="3474720"/>
            <a:ext cx="457200" cy="4572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9328" y="406908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50" b="1" i="0">
                <a:solidFill>
                  <a:srgbClr val="14213D"/>
                </a:solidFill>
                <a:latin typeface="Cambria"/>
              </a:rPr>
              <a:t>Один поток без Excel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39328" y="4553712"/>
            <a:ext cx="2971800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50" b="0" i="0">
                <a:solidFill>
                  <a:srgbClr val="5A6472"/>
                </a:solidFill>
                <a:latin typeface="Arial"/>
              </a:rPr>
              <a:t>рендер → расстановка → спецификация → смета → закупка без дублирования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2A6F97"/>
                </a:solidFill>
                <a:latin typeface="Arial"/>
              </a:rPr>
              <a:t>Чего нет ни у Foyr, ни у Spacely, ни у Planoplan — единая цепочка и смета в рублях с ценами РФ-фабрик.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AIVibe · Инвест-презентация · конфиденциально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07040" y="647395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1" i="0">
                <a:solidFill>
                  <a:srgbClr val="C9A24A"/>
                </a:solidFill>
                <a:latin typeface="Arial"/>
              </a:rPr>
              <a:t>ТЕХНОЛОГИЯ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300" b="1" i="0">
                <a:solidFill>
                  <a:srgbClr val="14213D"/>
                </a:solidFill>
                <a:latin typeface="Cambria"/>
              </a:rPr>
              <a:t>Виртуальный стейджинг: как это работает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984248"/>
            <a:ext cx="292608" cy="292608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6596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331720"/>
            <a:ext cx="130759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050" b="1" i="0">
                <a:solidFill>
                  <a:srgbClr val="14213D"/>
                </a:solidFill>
                <a:latin typeface="Arial"/>
              </a:rPr>
              <a:t>Фото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651760"/>
            <a:ext cx="130759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комнаты</a:t>
            </a:r>
          </a:p>
        </p:txBody>
      </p:sp>
      <p:sp>
        <p:nvSpPr>
          <p:cNvPr id="10" name="Chevron 9"/>
          <p:cNvSpPr/>
          <p:nvPr/>
        </p:nvSpPr>
        <p:spPr>
          <a:xfrm>
            <a:off x="2029968" y="2276856"/>
            <a:ext cx="182880" cy="27432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21991" y="1874519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31720" y="1984248"/>
            <a:ext cx="292608" cy="292608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196596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76856" y="2331720"/>
            <a:ext cx="130759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050" b="1" i="0">
                <a:solidFill>
                  <a:srgbClr val="14213D"/>
                </a:solidFill>
                <a:latin typeface="Arial"/>
              </a:rPr>
              <a:t>Глубина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651760"/>
            <a:ext cx="130759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+ линии</a:t>
            </a:r>
          </a:p>
        </p:txBody>
      </p:sp>
      <p:sp>
        <p:nvSpPr>
          <p:cNvPr id="16" name="Chevron 15"/>
          <p:cNvSpPr/>
          <p:nvPr/>
        </p:nvSpPr>
        <p:spPr>
          <a:xfrm>
            <a:off x="3611879" y="2276856"/>
            <a:ext cx="182880" cy="27432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03904" y="1874519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913632" y="1984248"/>
            <a:ext cx="292608" cy="292608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196596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8768" y="2331720"/>
            <a:ext cx="130759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050" b="1" i="0">
                <a:solidFill>
                  <a:srgbClr val="14213D"/>
                </a:solidFill>
                <a:latin typeface="Arial"/>
              </a:rPr>
              <a:t>Маски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58768" y="2651760"/>
            <a:ext cx="130759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пол/окна</a:t>
            </a:r>
          </a:p>
        </p:txBody>
      </p:sp>
      <p:sp>
        <p:nvSpPr>
          <p:cNvPr id="22" name="Chevron 21"/>
          <p:cNvSpPr/>
          <p:nvPr/>
        </p:nvSpPr>
        <p:spPr>
          <a:xfrm>
            <a:off x="5193792" y="2276856"/>
            <a:ext cx="182880" cy="27432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385816" y="1874519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E4EFEA"/>
          </a:solidFill>
          <a:ln w="17780">
            <a:solidFill>
              <a:srgbClr val="1E7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495544" y="1984248"/>
            <a:ext cx="292608" cy="292608"/>
          </a:xfrm>
          <a:prstGeom prst="ellipse">
            <a:avLst/>
          </a:prstGeom>
          <a:solidFill>
            <a:srgbClr val="1E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95544" y="196596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79" y="2331720"/>
            <a:ext cx="130759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050" b="1" i="0">
                <a:solidFill>
                  <a:srgbClr val="14213D"/>
                </a:solidFill>
                <a:latin typeface="Arial"/>
              </a:rPr>
              <a:t>План движка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79" y="2651760"/>
            <a:ext cx="130759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расстановка</a:t>
            </a:r>
          </a:p>
        </p:txBody>
      </p:sp>
      <p:sp>
        <p:nvSpPr>
          <p:cNvPr id="28" name="Chevron 27"/>
          <p:cNvSpPr/>
          <p:nvPr/>
        </p:nvSpPr>
        <p:spPr>
          <a:xfrm>
            <a:off x="6775703" y="2276856"/>
            <a:ext cx="182880" cy="27432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967728" y="1874519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7456" y="1984248"/>
            <a:ext cx="292608" cy="292608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77456" y="196596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22592" y="2331720"/>
            <a:ext cx="130759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050" b="1" i="0">
                <a:solidFill>
                  <a:srgbClr val="14213D"/>
                </a:solidFill>
                <a:latin typeface="Arial"/>
              </a:rPr>
              <a:t>Стиль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2592" y="2651760"/>
            <a:ext cx="130759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пресет/реф.</a:t>
            </a:r>
          </a:p>
        </p:txBody>
      </p:sp>
      <p:sp>
        <p:nvSpPr>
          <p:cNvPr id="34" name="Chevron 33"/>
          <p:cNvSpPr/>
          <p:nvPr/>
        </p:nvSpPr>
        <p:spPr>
          <a:xfrm>
            <a:off x="8357616" y="2276856"/>
            <a:ext cx="182880" cy="27432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549640" y="1874519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659367" y="1984248"/>
            <a:ext cx="292608" cy="292608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59367" y="196596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04504" y="2331720"/>
            <a:ext cx="130759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050" b="1" i="0">
                <a:solidFill>
                  <a:srgbClr val="14213D"/>
                </a:solidFill>
                <a:latin typeface="Arial"/>
              </a:rPr>
              <a:t>Генерация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04504" y="2651760"/>
            <a:ext cx="130759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SDXL+ControlNet</a:t>
            </a:r>
          </a:p>
        </p:txBody>
      </p:sp>
      <p:sp>
        <p:nvSpPr>
          <p:cNvPr id="40" name="Chevron 39"/>
          <p:cNvSpPr/>
          <p:nvPr/>
        </p:nvSpPr>
        <p:spPr>
          <a:xfrm>
            <a:off x="9939528" y="2276856"/>
            <a:ext cx="182880" cy="27432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131551" y="1874519"/>
            <a:ext cx="141732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41279" y="1984248"/>
            <a:ext cx="292608" cy="292608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241279" y="1965960"/>
            <a:ext cx="292608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86415" y="2331720"/>
            <a:ext cx="130759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050" b="1" i="0">
                <a:solidFill>
                  <a:srgbClr val="14213D"/>
                </a:solidFill>
                <a:latin typeface="Arial"/>
              </a:rPr>
              <a:t>Апскейл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86415" y="2651760"/>
            <a:ext cx="130759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+ авто-QA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338328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361188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14213D"/>
                </a:solidFill>
                <a:latin typeface="Cambria"/>
              </a:rPr>
              <a:t>Стиль задаёт пользователь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069080"/>
            <a:ext cx="484632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Пресет / текст (MVP) · референс-фото через IP-Adapter (премиум). «Переодевает» комнату диффузия SDXL; YandexGPT только собирает промпт — картинку не рисует.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72200" y="3383280"/>
            <a:ext cx="5349240" cy="1874519"/>
          </a:xfrm>
          <a:prstGeom prst="roundRect">
            <a:avLst>
              <a:gd name="adj" fmla="val 6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46520" y="361188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14213D"/>
                </a:solidFill>
                <a:latin typeface="Cambria"/>
              </a:rPr>
              <a:t>Движок решает ГДЕ — без «летающих диванов»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069080"/>
            <a:ext cx="484632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Детерминированный ArrangementEngine считает расстановку по нормам и подаёт её как жёсткие маски диффузии. У конкурентов мебель ставит сама нейросеть «на удачу».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" y="5440680"/>
            <a:ext cx="10881360" cy="6858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" y="5440680"/>
            <a:ext cx="10332720" cy="6858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250" b="1" i="0">
                <a:solidFill>
                  <a:srgbClr val="C9A24A"/>
                </a:solidFill>
                <a:latin typeface="Arial"/>
              </a:rPr>
              <a:t>Движок: </a:t>
            </a:r>
            <a:r>
              <a:rPr sz="1250" b="0" i="0">
                <a:solidFill>
                  <a:srgbClr val="CADCFC"/>
                </a:solidFill>
                <a:latin typeface="Arial"/>
              </a:rPr>
              <a:t>self-hosted SDXL + ControlNet на Yandex GPU (РФ-резидентно, 152-ФЗ) — managed-API в РФ фото не редактирует. Себестоимость ~7–11 ₽/кадр.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AIVibe · Инвест-презентация · конфиденциально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07040" y="647395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1" i="0">
                <a:solidFill>
                  <a:srgbClr val="C9A24A"/>
                </a:solidFill>
                <a:latin typeface="Arial"/>
              </a:rPr>
              <a:t>ЮНИТ-ЭКОНОМИКА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300" b="1" i="0">
                <a:solidFill>
                  <a:srgbClr val="14213D"/>
                </a:solidFill>
                <a:latin typeface="Cambria"/>
              </a:rPr>
              <a:t>Почему это сходится: LTV / CAC по сегментам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920240"/>
          <a:ext cx="603504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132320" y="1920240"/>
            <a:ext cx="438912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219456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14213D"/>
                </a:solidFill>
                <a:latin typeface="Cambria"/>
              </a:rPr>
              <a:t>Норма здоровья: LTV / CAC ≥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834640"/>
            <a:ext cx="3840480" cy="2743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1" i="0">
                <a:solidFill>
                  <a:srgbClr val="9C3848"/>
                </a:solidFill>
                <a:latin typeface="Arial"/>
              </a:rPr>
              <a:t>Масса</a:t>
            </a:r>
            <a:r>
              <a:rPr sz="1250" b="0" i="0">
                <a:solidFill>
                  <a:srgbClr val="162033"/>
                </a:solidFill>
                <a:latin typeface="Arial"/>
              </a:rPr>
              <a:t> — 0,03–0,38: убыток by design,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 i="0">
                <a:solidFill>
                  <a:srgbClr val="162033"/>
                </a:solidFill>
                <a:latin typeface="Arial"/>
              </a:rPr>
              <a:t>платная реклама запрещена арифметикой.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 i="0">
                <a:solidFill>
                  <a:srgbClr val="162033"/>
                </a:solidFill>
                <a:latin typeface="Arial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1" i="0">
                <a:solidFill>
                  <a:srgbClr val="1E7A52"/>
                </a:solidFill>
                <a:latin typeface="Arial"/>
              </a:rPr>
              <a:t>Дизайнер / риелтор</a:t>
            </a:r>
            <a:r>
              <a:rPr sz="1250" b="0" i="0">
                <a:solidFill>
                  <a:srgbClr val="162033"/>
                </a:solidFill>
                <a:latin typeface="Arial"/>
              </a:rPr>
              <a:t> — 3–8: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 i="0">
                <a:solidFill>
                  <a:srgbClr val="162033"/>
                </a:solidFill>
                <a:latin typeface="Arial"/>
              </a:rPr>
              <a:t>окупаемость 1–6 мес, маржа стейджинга ~95%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 i="0">
                <a:solidFill>
                  <a:srgbClr val="162033"/>
                </a:solidFill>
                <a:latin typeface="Arial"/>
              </a:rPr>
              <a:t>и устойчива к росту цен на AI (движок —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50" b="0" i="0">
                <a:solidFill>
                  <a:srgbClr val="162033"/>
                </a:solidFill>
                <a:latin typeface="Arial"/>
              </a:rPr>
              <a:t>вычисление, а не запрос к нейросети).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000" b="0" i="0">
                <a:solidFill>
                  <a:srgbClr val="5A6472"/>
                </a:solidFill>
                <a:latin typeface="Arial"/>
              </a:rPr>
              <a:t>× = во сколько раз пожизненная ценность клиента (LTV) покрывает стоимость привлечения (CAC); норма ≥ 3. Значения — середины диапазонов из разбора, иллюстрация, не обещание.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AIVibe · Инвест-презентация · конфиденциально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7395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1" i="0">
                <a:solidFill>
                  <a:srgbClr val="C9A24A"/>
                </a:solidFill>
                <a:latin typeface="Arial"/>
              </a:rPr>
              <a:t>ГРАФИКИ ДОХОДНОСТИ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300" b="1" i="0">
                <a:solidFill>
                  <a:srgbClr val="14213D"/>
                </a:solidFill>
                <a:latin typeface="Cambria"/>
              </a:rPr>
              <a:t>Реальная модель: выход на безубыточность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874519"/>
          <a:ext cx="76809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95360" y="2103120"/>
            <a:ext cx="2926080" cy="1691640"/>
          </a:xfrm>
          <a:prstGeom prst="roundRect">
            <a:avLst>
              <a:gd name="adj" fmla="val 6000"/>
            </a:avLst>
          </a:prstGeom>
          <a:solidFill>
            <a:srgbClr val="E4EFEA"/>
          </a:solidFill>
          <a:ln w="15240">
            <a:solidFill>
              <a:srgbClr val="1E7A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23960" y="228600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400" b="1" i="0">
                <a:solidFill>
                  <a:srgbClr val="1E7A52"/>
                </a:solidFill>
                <a:latin typeface="Cambria"/>
              </a:rPr>
              <a:t>Безубыточность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2743200"/>
            <a:ext cx="25146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14213D"/>
                </a:solidFill>
                <a:latin typeface="Arial"/>
              </a:rPr>
              <a:t>операционная </a:t>
            </a:r>
            <a:r>
              <a:rPr sz="1150" b="1" i="0">
                <a:solidFill>
                  <a:srgbClr val="1E7A52"/>
                </a:solidFill>
                <a:latin typeface="Arial"/>
              </a:rPr>
              <a:t>≈ М15</a:t>
            </a:r>
            <a:r>
              <a:rPr sz="1150" b="0" i="0">
                <a:solidFill>
                  <a:srgbClr val="14213D"/>
                </a:solidFill>
                <a:latin typeface="Arial"/>
              </a:rPr>
              <a:t>;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14213D"/>
                </a:solidFill>
                <a:latin typeface="Arial"/>
              </a:rPr>
              <a:t>полный возврат вложенного </a:t>
            </a:r>
            <a:r>
              <a:rPr sz="1150" b="1" i="0">
                <a:solidFill>
                  <a:srgbClr val="1E7A52"/>
                </a:solidFill>
                <a:latin typeface="Arial"/>
              </a:rPr>
              <a:t>≈ М23</a:t>
            </a:r>
            <a:r>
              <a:rPr sz="1150" b="0" i="0">
                <a:solidFill>
                  <a:srgbClr val="14213D"/>
                </a:solidFill>
                <a:latin typeface="Arial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3931920"/>
            <a:ext cx="29260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960" y="4114800"/>
            <a:ext cx="251460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1" i="0">
                <a:solidFill>
                  <a:srgbClr val="14213D"/>
                </a:solidFill>
                <a:latin typeface="Arial"/>
              </a:rPr>
              <a:t>Капитал до окупаемости: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дно «ямы» ≈ 9,3 млн ₽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0" i="0">
                <a:solidFill>
                  <a:srgbClr val="5A6472"/>
                </a:solidFill>
                <a:latin typeface="Arial"/>
              </a:rPr>
              <a:t>(консерватив ~16 млн).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1" i="0">
                <a:solidFill>
                  <a:srgbClr val="2A6F97"/>
                </a:solidFill>
                <a:latin typeface="Arial"/>
              </a:rPr>
              <a:t>Подушка 18–20 млн ₽.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53328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000" b="0" i="0">
                <a:solidFill>
                  <a:srgbClr val="5A6472"/>
                </a:solidFill>
                <a:latin typeface="Arial"/>
              </a:rPr>
              <a:t>Модель на официальном прайсе Yandex Cloud + зарплатах РФ 2025; консервативные допущения, не финансовое обещание.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AIVibe · Инвест-презентация · конфиденциально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47395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1" i="0">
                <a:solidFill>
                  <a:srgbClr val="C9A24A"/>
                </a:solidFill>
                <a:latin typeface="Arial"/>
              </a:rPr>
              <a:t>КАПИТАЛ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300" b="1" i="0">
                <a:solidFill>
                  <a:srgbClr val="14213D"/>
                </a:solidFill>
                <a:latin typeface="Cambria"/>
              </a:rPr>
              <a:t>Сколько нужно до окупаемости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38528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300" b="1" i="0">
                <a:solidFill>
                  <a:srgbClr val="2A6F97"/>
                </a:solidFill>
                <a:latin typeface="Cambria"/>
              </a:rPr>
              <a:t>9,5–16,5 млн 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 i="0">
                <a:solidFill>
                  <a:srgbClr val="5A6472"/>
                </a:solidFill>
                <a:latin typeface="Arial"/>
              </a:rPr>
              <a:t>капитал до окупаемости (подушка 18–20 млн)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2544" y="178308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1938528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300" b="1" i="0">
                <a:solidFill>
                  <a:srgbClr val="2A6F97"/>
                </a:solidFill>
                <a:latin typeface="Cambria"/>
              </a:rPr>
              <a:t>М15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26060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 i="0">
                <a:solidFill>
                  <a:srgbClr val="5A6472"/>
                </a:solidFill>
                <a:latin typeface="Arial"/>
              </a:rPr>
              <a:t>операционная безубыточность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78308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1938528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2300" b="1" i="0">
                <a:solidFill>
                  <a:srgbClr val="2A6F97"/>
                </a:solidFill>
                <a:latin typeface="Cambria"/>
              </a:rPr>
              <a:t>М23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260604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 i="0">
                <a:solidFill>
                  <a:srgbClr val="5A6472"/>
                </a:solidFill>
                <a:latin typeface="Arial"/>
              </a:rPr>
              <a:t>полный возврат вложенного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2A6F97"/>
                </a:solidFill>
                <a:latin typeface="Arial"/>
              </a:rPr>
              <a:t>ШТАТ И BURN ПО ФАЗАМ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49039"/>
            <a:ext cx="10881360" cy="548640"/>
          </a:xfrm>
          <a:prstGeom prst="rect">
            <a:avLst/>
          </a:prstGeom>
          <a:solidFill>
            <a:srgbClr val="14213D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749039"/>
            <a:ext cx="2011679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Фаза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3749039"/>
            <a:ext cx="43891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Команда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9248" y="3749039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ФОТ/мес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36607" y="3749039"/>
            <a:ext cx="2011679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Полные затраты/мес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297679"/>
            <a:ext cx="10881360" cy="548640"/>
          </a:xfrm>
          <a:prstGeom prst="rect">
            <a:avLst/>
          </a:prstGeom>
          <a:solidFill>
            <a:srgbClr val="EEF2F8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297679"/>
            <a:ext cx="2011679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14213D"/>
                </a:solidFill>
                <a:latin typeface="Arial"/>
              </a:rPr>
              <a:t>MVP · М1–4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35808" y="4297679"/>
            <a:ext cx="43891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backend + ML/CV + 0,5 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4297679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~595 тыс 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36607" y="4297679"/>
            <a:ext cx="2011679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~626 тыс 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846319"/>
            <a:ext cx="108813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4846319"/>
            <a:ext cx="2011679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14213D"/>
                </a:solidFill>
                <a:latin typeface="Arial"/>
              </a:rPr>
              <a:t>Пилот · М5–9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35808" y="4846319"/>
            <a:ext cx="43891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+ iOS + перформанс-маркетолог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9248" y="4846319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~865 тыс 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6607" y="4846319"/>
            <a:ext cx="2011679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~1,1–1,2 млн 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394959"/>
            <a:ext cx="10881360" cy="548640"/>
          </a:xfrm>
          <a:prstGeom prst="rect">
            <a:avLst/>
          </a:prstGeom>
          <a:solidFill>
            <a:srgbClr val="EEF2F8"/>
          </a:solidFill>
          <a:ln w="9525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394959"/>
            <a:ext cx="2011679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1" i="0">
                <a:solidFill>
                  <a:srgbClr val="14213D"/>
                </a:solidFill>
                <a:latin typeface="Arial"/>
              </a:rPr>
              <a:t>Рост · М10–24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35808" y="5394959"/>
            <a:ext cx="438912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+ support/sales + дизайн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9248" y="5394959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~1,07 млн 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36607" y="5394959"/>
            <a:ext cx="2011679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1,7–2,5 млн 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080759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1" i="0">
                <a:solidFill>
                  <a:srgbClr val="14213D"/>
                </a:solidFill>
                <a:latin typeface="Arial"/>
              </a:rPr>
              <a:t>Себестоимость 1 стейджинга ~10–40 ₽, маржа ~90–95%. </a:t>
            </a:r>
            <a:r>
              <a:rPr sz="1200" b="0" i="0">
                <a:solidFill>
                  <a:srgbClr val="5A6472"/>
                </a:solidFill>
                <a:latin typeface="Arial"/>
              </a:rPr>
              <a:t>Рычаги ямы: цена/рамп риелторов, режим GPU (прерываемые ВМ), тайминг найма.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AIVibe · Инвест-презентация · конфиденциально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47395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1" i="0">
                <a:solidFill>
                  <a:srgbClr val="C9A24A"/>
                </a:solidFill>
                <a:latin typeface="Arial"/>
              </a:rPr>
              <a:t>ПЛАН И КОНТРОЛЬНЫЕ ТОЧКИ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300" b="1" i="0">
                <a:solidFill>
                  <a:srgbClr val="14213D"/>
                </a:solidFill>
                <a:latin typeface="Cambria"/>
              </a:rPr>
              <a:t>Риски снимаются поэтапно (gates)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269748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697480" cy="640080"/>
          </a:xfrm>
          <a:prstGeom prst="roundRect">
            <a:avLst>
              <a:gd name="adj" fmla="val 6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514600"/>
            <a:ext cx="2697480" cy="32004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269748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Фаза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14213D"/>
                </a:solidFill>
                <a:latin typeface="Cambria"/>
              </a:rPr>
              <a:t>Фундамент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20439"/>
            <a:ext cx="224028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Авторизация + аналитика активации. До любого платного маркетинга.</a:t>
            </a:r>
          </a:p>
        </p:txBody>
      </p:sp>
      <p:sp>
        <p:nvSpPr>
          <p:cNvPr id="11" name="Chevron 10"/>
          <p:cNvSpPr/>
          <p:nvPr/>
        </p:nvSpPr>
        <p:spPr>
          <a:xfrm>
            <a:off x="3310128" y="3429000"/>
            <a:ext cx="182880" cy="365760"/>
          </a:xfrm>
          <a:prstGeom prst="chevron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56432" y="2194560"/>
            <a:ext cx="269748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56432" y="2194560"/>
            <a:ext cx="2697480" cy="640080"/>
          </a:xfrm>
          <a:prstGeom prst="roundRect">
            <a:avLst>
              <a:gd name="adj" fmla="val 6000"/>
            </a:avLst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2514600"/>
            <a:ext cx="2697480" cy="32004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194560"/>
            <a:ext cx="269748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Gate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301752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14213D"/>
                </a:solidFill>
                <a:latin typeface="Cambria"/>
              </a:rPr>
              <a:t>Качество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3520439"/>
            <a:ext cx="224028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Пилот 20 риелторов: «вставил в реальный листинг» ≥ 60%.</a:t>
            </a:r>
          </a:p>
        </p:txBody>
      </p:sp>
      <p:sp>
        <p:nvSpPr>
          <p:cNvPr id="18" name="Chevron 17"/>
          <p:cNvSpPr/>
          <p:nvPr/>
        </p:nvSpPr>
        <p:spPr>
          <a:xfrm>
            <a:off x="6126480" y="3429000"/>
            <a:ext cx="182880" cy="365760"/>
          </a:xfrm>
          <a:prstGeom prst="chevron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2784" y="2194560"/>
            <a:ext cx="269748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72784" y="2194560"/>
            <a:ext cx="2697480" cy="640080"/>
          </a:xfrm>
          <a:prstGeom prst="roundRect">
            <a:avLst>
              <a:gd name="adj" fmla="val 6000"/>
            </a:avLst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2514600"/>
            <a:ext cx="2697480" cy="32004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4" y="2194560"/>
            <a:ext cx="269748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Gate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301752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14213D"/>
                </a:solidFill>
                <a:latin typeface="Cambria"/>
              </a:rPr>
              <a:t>Несущий чек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3520439"/>
            <a:ext cx="224028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Первый застройщик конвертируется в первом квартале пилота.</a:t>
            </a:r>
          </a:p>
        </p:txBody>
      </p:sp>
      <p:sp>
        <p:nvSpPr>
          <p:cNvPr id="25" name="Chevron 24"/>
          <p:cNvSpPr/>
          <p:nvPr/>
        </p:nvSpPr>
        <p:spPr>
          <a:xfrm>
            <a:off x="8942832" y="3429000"/>
            <a:ext cx="182880" cy="365760"/>
          </a:xfrm>
          <a:prstGeom prst="chevron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89136" y="2194560"/>
            <a:ext cx="269748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89136" y="2194560"/>
            <a:ext cx="2697480" cy="640080"/>
          </a:xfrm>
          <a:prstGeom prst="roundRect">
            <a:avLst>
              <a:gd name="adj" fmla="val 6000"/>
            </a:avLst>
          </a:prstGeom>
          <a:solidFill>
            <a:srgbClr val="1E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2514600"/>
            <a:ext cx="2697480" cy="320040"/>
          </a:xfrm>
          <a:prstGeom prst="rect">
            <a:avLst/>
          </a:prstGeom>
          <a:solidFill>
            <a:srgbClr val="1E7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89136" y="2194560"/>
            <a:ext cx="2697480" cy="6400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Рост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17736" y="3017520"/>
            <a:ext cx="22402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500" b="1" i="0">
                <a:solidFill>
                  <a:srgbClr val="14213D"/>
                </a:solidFill>
                <a:latin typeface="Cambria"/>
              </a:rPr>
              <a:t>Масштаб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17736" y="3520439"/>
            <a:ext cx="224028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5A6472"/>
                </a:solidFill>
                <a:latin typeface="Arial"/>
              </a:rPr>
              <a:t>Стейджинг → дизайнеры → фабрики/комиссия (со спросом) → Казахстан.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250" b="1" i="0">
                <a:solidFill>
                  <a:srgbClr val="14213D"/>
                </a:solidFill>
                <a:latin typeface="Arial"/>
              </a:rPr>
              <a:t>Каждый этап — проверяемый критерий: не прошли → корректируем курс, а не жжём капитал вслепую.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AIVibe · Инвест-презентация · конфиденциально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7395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1" i="0">
                <a:solidFill>
                  <a:srgbClr val="C9A24A"/>
                </a:solidFill>
                <a:latin typeface="Arial"/>
              </a:rPr>
              <a:t>РИСКИ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3300" b="1" i="0">
                <a:solidFill>
                  <a:srgbClr val="14213D"/>
                </a:solidFill>
                <a:latin typeface="Cambria"/>
              </a:rPr>
              <a:t>Главные риски и как мы их снимаем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108813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9C3848"/>
                </a:solidFill>
                <a:latin typeface="Arial"/>
              </a:rPr>
              <a:t>Риск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14213D"/>
                </a:solidFill>
                <a:latin typeface="Cambria"/>
              </a:rPr>
              <a:t>Авито / Циан встроят AI-меблировку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2194560"/>
            <a:ext cx="36576" cy="868680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49240" y="2194560"/>
            <a:ext cx="59436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1" i="0">
                <a:solidFill>
                  <a:srgbClr val="1E7A52"/>
                </a:solidFill>
                <a:latin typeface="Arial"/>
              </a:rPr>
              <a:t>Снятие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0" i="0">
                <a:solidFill>
                  <a:srgbClr val="5A6472"/>
                </a:solidFill>
                <a:latin typeface="Arial"/>
              </a:rPr>
              <a:t>Институциональные договоры с застройщиками и агентствами — канал, недоступный платформе листинга; скорость; движок-ров.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83280"/>
            <a:ext cx="108813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9C3848"/>
                </a:solidFill>
                <a:latin typeface="Arial"/>
              </a:rPr>
              <a:t>Риск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14213D"/>
                </a:solidFill>
                <a:latin typeface="Cambria"/>
              </a:rPr>
              <a:t>Качество AI-генерации для листинга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3566160"/>
            <a:ext cx="36576" cy="868680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3566160"/>
            <a:ext cx="59436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1" i="0">
                <a:solidFill>
                  <a:srgbClr val="1E7A52"/>
                </a:solidFill>
                <a:latin typeface="Arial"/>
              </a:rPr>
              <a:t>Снятие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0" i="0">
                <a:solidFill>
                  <a:srgbClr val="5A6472"/>
                </a:solidFill>
                <a:latin typeface="Arial"/>
              </a:rPr>
              <a:t>Движок как валидатор геометрии + сохранение реальной комнаты (inpainting); жёсткий quality-gate до маркетинга.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754880"/>
            <a:ext cx="1088136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F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00" b="1" i="0">
                <a:solidFill>
                  <a:srgbClr val="9C3848"/>
                </a:solidFill>
                <a:latin typeface="Arial"/>
              </a:rPr>
              <a:t>Риск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400" b="1" i="0">
                <a:solidFill>
                  <a:srgbClr val="14213D"/>
                </a:solidFill>
                <a:latin typeface="Cambria"/>
              </a:rPr>
              <a:t>Узкий рынок одного сегмента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4937760"/>
            <a:ext cx="36576" cy="868680"/>
          </a:xfrm>
          <a:prstGeom prst="rect">
            <a:avLst/>
          </a:prstGeom>
          <a:solidFill>
            <a:srgbClr val="CF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4937760"/>
            <a:ext cx="59436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1" i="0">
                <a:solidFill>
                  <a:srgbClr val="1E7A52"/>
                </a:solidFill>
                <a:latin typeface="Arial"/>
              </a:rPr>
              <a:t>Снятие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50" b="0" i="0">
                <a:solidFill>
                  <a:srgbClr val="5A6472"/>
                </a:solidFill>
                <a:latin typeface="Arial"/>
              </a:rPr>
              <a:t>Расширение на соседние B2B (стейджинг → застройщики → дизайнеры → Казахстан) на той же кодовой базе.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AIVibe · Инвест-презентация · конфиденциально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73952"/>
            <a:ext cx="960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6000"/>
              </a:lnSpc>
              <a:spcAft>
                <a:spcPts val="200"/>
              </a:spcAft>
            </a:pPr>
            <a:r>
              <a:rPr sz="850" b="0" i="0">
                <a:solidFill>
                  <a:srgbClr val="5A64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822960" cy="109728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150" b="1" i="0">
                <a:solidFill>
                  <a:srgbClr val="C9A24A"/>
                </a:solidFill>
                <a:latin typeface="Arial"/>
              </a:rPr>
              <a:t>ИТОГ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Будущее проекта решает не реализм AR,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а </a:t>
            </a:r>
            <a:r>
              <a:rPr sz="3400" b="1" i="0">
                <a:solidFill>
                  <a:srgbClr val="C9A24A"/>
                </a:solidFill>
                <a:latin typeface="Cambria"/>
              </a:rPr>
              <a:t>дешёвый повторяющийся спрос</a:t>
            </a:r>
            <a:r>
              <a:rPr sz="3400" b="1" i="0">
                <a:solidFill>
                  <a:srgbClr val="FFFFFF"/>
                </a:solidFill>
                <a:latin typeface="Cambria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550" b="0" i="0">
                <a:solidFill>
                  <a:srgbClr val="CADCFC"/>
                </a:solidFill>
                <a:latin typeface="Arial"/>
              </a:rPr>
              <a:t>Мы берём деньги с профессионала (риелтор, застройщик, дизайнер), используем уже написанный код и единственный неклонируемый актив — движок расстановки. Каждый этап защищён проверяемым критерием.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212080"/>
            <a:ext cx="5120640" cy="502920"/>
          </a:xfrm>
          <a:prstGeom prst="roundRect">
            <a:avLst>
              <a:gd name="adj" fmla="val 50000"/>
            </a:avLst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202936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6000"/>
              </a:lnSpc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Дальше: пилот стейджинга + identity/аналитика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636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000" b="0" i="0">
                <a:solidFill>
                  <a:srgbClr val="9FADC2"/>
                </a:solidFill>
                <a:latin typeface="Arial"/>
              </a:rPr>
              <a:t>Конфиденциально · цифры — консервативные оценки, не обещания результата.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